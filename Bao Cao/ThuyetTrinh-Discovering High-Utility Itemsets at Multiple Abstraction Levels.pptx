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mbria Math" panose="02040503050406030204" pitchFamily="18" charset="0"/>
      <p:regular r:id="rId17"/>
    </p:embeddedFont>
    <p:embeddedFont>
      <p:font typeface="Karnchang SemiCondensed Bold" panose="020B0604020202020204" charset="-34"/>
      <p:regular r:id="rId18"/>
    </p:embeddedFont>
    <p:embeddedFont>
      <p:font typeface="Muli" panose="020B0604020202020204" charset="0"/>
      <p:regular r:id="rId19"/>
    </p:embeddedFont>
    <p:embeddedFont>
      <p:font typeface="Muli Bold" panose="020B0604020202020204" charset="0"/>
      <p:regular r:id="rId20"/>
    </p:embeddedFont>
    <p:embeddedFont>
      <p:font typeface="Muli Bold Italics" panose="020B0604020202020204" charset="0"/>
      <p:regular r:id="rId21"/>
    </p:embeddedFont>
    <p:embeddedFont>
      <p:font typeface="Muli Italics" panose="020B0604020202020204" charset="0"/>
      <p:regular r:id="rId22"/>
    </p:embeddedFont>
    <p:embeddedFont>
      <p:font typeface="Quark"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48"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52DBC9-D86E-449A-9344-3D7E3EF7D069}"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DA83-955B-4113-B479-CDBA88EA47E5}" type="slidenum">
              <a:rPr lang="en-US" smtClean="0"/>
              <a:t>‹#›</a:t>
            </a:fld>
            <a:endParaRPr lang="en-US"/>
          </a:p>
        </p:txBody>
      </p:sp>
    </p:spTree>
    <p:extLst>
      <p:ext uri="{BB962C8B-B14F-4D97-AF65-F5344CB8AC3E}">
        <p14:creationId xmlns:p14="http://schemas.microsoft.com/office/powerpoint/2010/main" val="2469814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74DA83-955B-4113-B479-CDBA88EA47E5}" type="slidenum">
              <a:rPr lang="en-US" smtClean="0"/>
              <a:t>14</a:t>
            </a:fld>
            <a:endParaRPr lang="en-US"/>
          </a:p>
        </p:txBody>
      </p:sp>
    </p:spTree>
    <p:extLst>
      <p:ext uri="{BB962C8B-B14F-4D97-AF65-F5344CB8AC3E}">
        <p14:creationId xmlns:p14="http://schemas.microsoft.com/office/powerpoint/2010/main" val="665395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Freeform 3"/>
          <p:cNvSpPr/>
          <p:nvPr/>
        </p:nvSpPr>
        <p:spPr>
          <a:xfrm>
            <a:off x="2701348" y="6961668"/>
            <a:ext cx="4815191" cy="4114800"/>
          </a:xfrm>
          <a:custGeom>
            <a:avLst/>
            <a:gdLst/>
            <a:ahLst/>
            <a:cxnLst/>
            <a:rect l="l" t="t" r="r" b="b"/>
            <a:pathLst>
              <a:path w="4815191" h="4114800">
                <a:moveTo>
                  <a:pt x="0" y="0"/>
                </a:moveTo>
                <a:lnTo>
                  <a:pt x="4815192" y="0"/>
                </a:lnTo>
                <a:lnTo>
                  <a:pt x="48151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5" name="Group 5"/>
          <p:cNvGrpSpPr/>
          <p:nvPr/>
        </p:nvGrpSpPr>
        <p:grpSpPr>
          <a:xfrm>
            <a:off x="16042557" y="-380448"/>
            <a:ext cx="3086100" cy="7022063"/>
            <a:chOff x="0" y="0"/>
            <a:chExt cx="812800" cy="1849432"/>
          </a:xfrm>
        </p:grpSpPr>
        <p:sp>
          <p:nvSpPr>
            <p:cNvPr id="6" name="Freeform 6"/>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7" name="TextBox 7"/>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6042557" y="-3396291"/>
            <a:ext cx="3086100" cy="6792583"/>
            <a:chOff x="0" y="0"/>
            <a:chExt cx="812800" cy="1788993"/>
          </a:xfrm>
        </p:grpSpPr>
        <p:sp>
          <p:nvSpPr>
            <p:cNvPr id="9" name="Freeform 9"/>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10" name="TextBox 10"/>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553537" y="654557"/>
            <a:ext cx="13579194" cy="3064469"/>
          </a:xfrm>
          <a:prstGeom prst="rect">
            <a:avLst/>
          </a:prstGeom>
        </p:spPr>
        <p:txBody>
          <a:bodyPr lIns="0" tIns="0" rIns="0" bIns="0" rtlCol="0" anchor="t">
            <a:spAutoFit/>
          </a:bodyPr>
          <a:lstStyle/>
          <a:p>
            <a:pPr algn="ctr">
              <a:lnSpc>
                <a:spcPts val="7069"/>
              </a:lnSpc>
            </a:pPr>
            <a:r>
              <a:rPr lang="en-US" sz="6999" b="1">
                <a:solidFill>
                  <a:srgbClr val="17415F"/>
                </a:solidFill>
                <a:latin typeface="Karnchang SemiCondensed Bold"/>
                <a:ea typeface="Karnchang SemiCondensed Bold"/>
                <a:cs typeface="Karnchang SemiCondensed Bold"/>
                <a:sym typeface="Karnchang SemiCondensed Bold"/>
              </a:rPr>
              <a:t>BÁO CÁO ĐỒ ÁN LẬP TRÌNH JAVA</a:t>
            </a:r>
          </a:p>
          <a:p>
            <a:pPr algn="ctr">
              <a:lnSpc>
                <a:spcPts val="7069"/>
              </a:lnSpc>
            </a:pPr>
            <a:r>
              <a:rPr lang="en-US" sz="6999" b="1">
                <a:solidFill>
                  <a:srgbClr val="17415F"/>
                </a:solidFill>
                <a:latin typeface="Karnchang SemiCondensed Bold"/>
                <a:ea typeface="Karnchang SemiCondensed Bold"/>
                <a:cs typeface="Karnchang SemiCondensed Bold"/>
                <a:sym typeface="Karnchang SemiCondensed Bold"/>
              </a:rPr>
              <a:t>Khám Phá Các Tập Mục Hữu Ích Cao Ở Nhiều Mức Độ Trừu Tượng</a:t>
            </a:r>
          </a:p>
        </p:txBody>
      </p:sp>
      <p:sp>
        <p:nvSpPr>
          <p:cNvPr id="12" name="TextBox 12"/>
          <p:cNvSpPr txBox="1"/>
          <p:nvPr/>
        </p:nvSpPr>
        <p:spPr>
          <a:xfrm>
            <a:off x="1757461" y="3778844"/>
            <a:ext cx="12658550" cy="5953821"/>
          </a:xfrm>
          <a:prstGeom prst="rect">
            <a:avLst/>
          </a:prstGeom>
        </p:spPr>
        <p:txBody>
          <a:bodyPr lIns="0" tIns="0" rIns="0" bIns="0" rtlCol="0" anchor="t">
            <a:spAutoFit/>
          </a:bodyPr>
          <a:lstStyle/>
          <a:p>
            <a:pPr algn="l">
              <a:lnSpc>
                <a:spcPts val="6299"/>
              </a:lnSpc>
            </a:pPr>
            <a:r>
              <a:rPr lang="en-US" sz="4500">
                <a:solidFill>
                  <a:srgbClr val="17415F"/>
                </a:solidFill>
                <a:latin typeface="Times New Roman"/>
                <a:ea typeface="Times New Roman"/>
                <a:cs typeface="Times New Roman"/>
                <a:sym typeface="Times New Roman"/>
              </a:rPr>
              <a:t>NHÓM 10:</a:t>
            </a:r>
          </a:p>
          <a:p>
            <a:pPr algn="l">
              <a:lnSpc>
                <a:spcPts val="6299"/>
              </a:lnSpc>
            </a:pPr>
            <a:r>
              <a:rPr lang="en-US" sz="4500">
                <a:solidFill>
                  <a:srgbClr val="17415F"/>
                </a:solidFill>
                <a:latin typeface="Times New Roman"/>
                <a:ea typeface="Times New Roman"/>
                <a:cs typeface="Times New Roman"/>
                <a:sym typeface="Times New Roman"/>
              </a:rPr>
              <a:t>2312616 - Phan Trung Hiếu</a:t>
            </a:r>
          </a:p>
          <a:p>
            <a:pPr algn="l">
              <a:lnSpc>
                <a:spcPts val="6299"/>
              </a:lnSpc>
            </a:pPr>
            <a:r>
              <a:rPr lang="en-US" sz="4500">
                <a:solidFill>
                  <a:srgbClr val="17415F"/>
                </a:solidFill>
                <a:latin typeface="Times New Roman"/>
                <a:ea typeface="Times New Roman"/>
                <a:cs typeface="Times New Roman"/>
                <a:sym typeface="Times New Roman"/>
              </a:rPr>
              <a:t>2312607 - Nguyễn Ngọc Hân</a:t>
            </a:r>
          </a:p>
          <a:p>
            <a:pPr algn="l">
              <a:lnSpc>
                <a:spcPts val="6299"/>
              </a:lnSpc>
            </a:pPr>
            <a:r>
              <a:rPr lang="en-US" sz="4500">
                <a:solidFill>
                  <a:srgbClr val="17415F"/>
                </a:solidFill>
                <a:latin typeface="Times New Roman"/>
                <a:ea typeface="Times New Roman"/>
                <a:cs typeface="Times New Roman"/>
                <a:sym typeface="Times New Roman"/>
              </a:rPr>
              <a:t>2312697 - Nguyễn Thị Trường Nga</a:t>
            </a:r>
          </a:p>
          <a:p>
            <a:pPr algn="l">
              <a:lnSpc>
                <a:spcPts val="7279"/>
              </a:lnSpc>
            </a:pPr>
            <a:endParaRPr lang="en-US" sz="4500">
              <a:solidFill>
                <a:srgbClr val="17415F"/>
              </a:solidFill>
              <a:latin typeface="Times New Roman"/>
              <a:ea typeface="Times New Roman"/>
              <a:cs typeface="Times New Roman"/>
              <a:sym typeface="Times New Roman"/>
            </a:endParaRPr>
          </a:p>
          <a:p>
            <a:pPr algn="l">
              <a:lnSpc>
                <a:spcPts val="7279"/>
              </a:lnSpc>
            </a:pPr>
            <a:endParaRPr lang="en-US" sz="4500">
              <a:solidFill>
                <a:srgbClr val="17415F"/>
              </a:solidFill>
              <a:latin typeface="Times New Roman"/>
              <a:ea typeface="Times New Roman"/>
              <a:cs typeface="Times New Roman"/>
              <a:sym typeface="Times New Roman"/>
            </a:endParaRPr>
          </a:p>
          <a:p>
            <a:pPr algn="l">
              <a:lnSpc>
                <a:spcPts val="7279"/>
              </a:lnSpc>
            </a:pPr>
            <a:endParaRPr lang="en-US" sz="4500">
              <a:solidFill>
                <a:srgbClr val="17415F"/>
              </a:solidFill>
              <a:latin typeface="Times New Roman"/>
              <a:ea typeface="Times New Roman"/>
              <a:cs typeface="Times New Roman"/>
              <a:sym typeface="Times New Roman"/>
            </a:endParaRPr>
          </a:p>
        </p:txBody>
      </p:sp>
      <p:grpSp>
        <p:nvGrpSpPr>
          <p:cNvPr id="13" name="Group 13"/>
          <p:cNvGrpSpPr/>
          <p:nvPr/>
        </p:nvGrpSpPr>
        <p:grpSpPr>
          <a:xfrm>
            <a:off x="17259300" y="-380448"/>
            <a:ext cx="3086100" cy="7022063"/>
            <a:chOff x="0" y="0"/>
            <a:chExt cx="812800" cy="1849432"/>
          </a:xfrm>
        </p:grpSpPr>
        <p:sp>
          <p:nvSpPr>
            <p:cNvPr id="14" name="Freeform 14"/>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9FCDFF"/>
            </a:solidFill>
          </p:spPr>
        </p:sp>
        <p:sp>
          <p:nvSpPr>
            <p:cNvPr id="15" name="TextBox 15"/>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259300" y="-3396291"/>
            <a:ext cx="3086100" cy="6792583"/>
            <a:chOff x="0" y="0"/>
            <a:chExt cx="812800" cy="1788993"/>
          </a:xfrm>
        </p:grpSpPr>
        <p:sp>
          <p:nvSpPr>
            <p:cNvPr id="17" name="Freeform 17"/>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8" name="TextBox 18"/>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FFFFF"/>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565436" y="2426751"/>
            <a:ext cx="11891487" cy="3294428"/>
          </a:xfrm>
          <a:prstGeom prst="rect">
            <a:avLst/>
          </a:prstGeom>
        </p:spPr>
        <p:txBody>
          <a:bodyPr lIns="0" tIns="0" rIns="0" bIns="0" rtlCol="0" anchor="t">
            <a:spAutoFit/>
          </a:bodyPr>
          <a:lstStyle/>
          <a:p>
            <a:pPr marL="712049" lvl="1" indent="-356024" algn="just">
              <a:lnSpc>
                <a:spcPts val="5177"/>
              </a:lnSpc>
              <a:buAutoNum type="arabicPeriod"/>
            </a:pPr>
            <a:r>
              <a:rPr lang="en-US" sz="4400">
                <a:solidFill>
                  <a:srgbClr val="17415F"/>
                </a:solidFill>
                <a:latin typeface="Quark"/>
                <a:ea typeface="Quark"/>
                <a:cs typeface="Quark"/>
                <a:sym typeface="Quark"/>
              </a:rPr>
              <a:t> Giới thiệu</a:t>
            </a:r>
          </a:p>
          <a:p>
            <a:pPr marL="712049" lvl="1" indent="-356024" algn="just">
              <a:lnSpc>
                <a:spcPts val="5177"/>
              </a:lnSpc>
              <a:buAutoNum type="arabicPeriod"/>
            </a:pPr>
            <a:r>
              <a:rPr lang="en-US" sz="4400">
                <a:solidFill>
                  <a:srgbClr val="17415F"/>
                </a:solidFill>
                <a:latin typeface="Quark"/>
                <a:ea typeface="Quark"/>
                <a:cs typeface="Quark"/>
                <a:sym typeface="Quark"/>
              </a:rPr>
              <a:t> Cơ sở lí thuyết</a:t>
            </a:r>
          </a:p>
          <a:p>
            <a:pPr marL="712049" lvl="1" indent="-356024" algn="just">
              <a:lnSpc>
                <a:spcPts val="5177"/>
              </a:lnSpc>
              <a:buAutoNum type="arabicPeriod"/>
            </a:pPr>
            <a:r>
              <a:rPr lang="en-US" sz="4400">
                <a:solidFill>
                  <a:srgbClr val="17415F"/>
                </a:solidFill>
                <a:latin typeface="Quark"/>
                <a:ea typeface="Quark"/>
                <a:cs typeface="Quark"/>
                <a:sym typeface="Quark"/>
              </a:rPr>
              <a:t> Mô tả thuật toán</a:t>
            </a:r>
          </a:p>
          <a:p>
            <a:pPr marL="712049" lvl="1" indent="-356024" algn="just">
              <a:lnSpc>
                <a:spcPts val="5177"/>
              </a:lnSpc>
              <a:buAutoNum type="arabicPeriod"/>
            </a:pPr>
            <a:r>
              <a:rPr lang="en-US" sz="4400">
                <a:solidFill>
                  <a:srgbClr val="17415F"/>
                </a:solidFill>
                <a:latin typeface="Quark"/>
                <a:ea typeface="Quark"/>
                <a:cs typeface="Quark"/>
                <a:sym typeface="Quark"/>
              </a:rPr>
              <a:t> Demo</a:t>
            </a:r>
          </a:p>
          <a:p>
            <a:pPr algn="just">
              <a:lnSpc>
                <a:spcPts val="5177"/>
              </a:lnSpc>
            </a:pPr>
            <a:endParaRPr lang="en-US" sz="3298">
              <a:solidFill>
                <a:srgbClr val="17415F"/>
              </a:solidFill>
              <a:latin typeface="Quark"/>
              <a:ea typeface="Quark"/>
              <a:cs typeface="Quark"/>
              <a:sym typeface="Quark"/>
            </a:endParaRPr>
          </a:p>
        </p:txBody>
      </p:sp>
      <p:grpSp>
        <p:nvGrpSpPr>
          <p:cNvPr id="11" name="Group 11"/>
          <p:cNvGrpSpPr/>
          <p:nvPr/>
        </p:nvGrpSpPr>
        <p:grpSpPr>
          <a:xfrm>
            <a:off x="17611427" y="-251526"/>
            <a:ext cx="1764194" cy="4014219"/>
            <a:chOff x="0" y="0"/>
            <a:chExt cx="812800" cy="1849432"/>
          </a:xfrm>
        </p:grpSpPr>
        <p:sp>
          <p:nvSpPr>
            <p:cNvPr id="12" name="Freeform 12"/>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9FCDFF"/>
            </a:solidFill>
          </p:spPr>
        </p:sp>
        <p:sp>
          <p:nvSpPr>
            <p:cNvPr id="13" name="TextBox 13"/>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7611427" y="-1975557"/>
            <a:ext cx="1764194" cy="3883035"/>
            <a:chOff x="0" y="0"/>
            <a:chExt cx="812800" cy="1788993"/>
          </a:xfrm>
        </p:grpSpPr>
        <p:sp>
          <p:nvSpPr>
            <p:cNvPr id="15" name="Freeform 15"/>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6" name="TextBox 16"/>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9742503" y="5759214"/>
            <a:ext cx="4183253" cy="4114800"/>
          </a:xfrm>
          <a:custGeom>
            <a:avLst/>
            <a:gdLst/>
            <a:ahLst/>
            <a:cxnLst/>
            <a:rect l="l" t="t" r="r" b="b"/>
            <a:pathLst>
              <a:path w="4183253" h="4114800">
                <a:moveTo>
                  <a:pt x="0" y="0"/>
                </a:moveTo>
                <a:lnTo>
                  <a:pt x="4183253" y="0"/>
                </a:lnTo>
                <a:lnTo>
                  <a:pt x="41832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1565436" y="850989"/>
            <a:ext cx="8177067" cy="1447185"/>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Nội dung chính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FCDFF"/>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FFFF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flipH="1">
            <a:off x="14526283" y="7289245"/>
            <a:ext cx="4153777" cy="2673522"/>
          </a:xfrm>
          <a:custGeom>
            <a:avLst/>
            <a:gdLst/>
            <a:ahLst/>
            <a:cxnLst/>
            <a:rect l="l" t="t" r="r" b="b"/>
            <a:pathLst>
              <a:path w="4153777" h="2673522">
                <a:moveTo>
                  <a:pt x="4153777" y="0"/>
                </a:moveTo>
                <a:lnTo>
                  <a:pt x="0" y="0"/>
                </a:lnTo>
                <a:lnTo>
                  <a:pt x="0" y="2673522"/>
                </a:lnTo>
                <a:lnTo>
                  <a:pt x="4153777" y="2673522"/>
                </a:lnTo>
                <a:lnTo>
                  <a:pt x="415377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565436" y="723900"/>
            <a:ext cx="6698332" cy="1440853"/>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Giới thiệu</a:t>
            </a:r>
          </a:p>
        </p:txBody>
      </p:sp>
      <p:sp>
        <p:nvSpPr>
          <p:cNvPr id="18" name="TextBox 18"/>
          <p:cNvSpPr txBox="1"/>
          <p:nvPr/>
        </p:nvSpPr>
        <p:spPr>
          <a:xfrm>
            <a:off x="1565436" y="1758948"/>
            <a:ext cx="12280365" cy="5671165"/>
          </a:xfrm>
          <a:prstGeom prst="rect">
            <a:avLst/>
          </a:prstGeom>
        </p:spPr>
        <p:txBody>
          <a:bodyPr lIns="0" tIns="0" rIns="0" bIns="0" rtlCol="0" anchor="t">
            <a:spAutoFit/>
          </a:bodyPr>
          <a:lstStyle/>
          <a:p>
            <a:pPr algn="l">
              <a:lnSpc>
                <a:spcPts val="3499"/>
              </a:lnSpc>
            </a:pPr>
            <a:r>
              <a:rPr lang="en-US" sz="2499">
                <a:solidFill>
                  <a:srgbClr val="000000"/>
                </a:solidFill>
                <a:latin typeface="Muli"/>
                <a:ea typeface="Muli"/>
                <a:cs typeface="Muli"/>
                <a:sym typeface="Muli"/>
              </a:rPr>
              <a:t>Bài toán khai thác tập mục phổ biến FIM (Frequent itemset mining) là một kỹ thuật khai phá dữ liệu thăm dò tập trung vào việc khám phá các tổ hợp lặp lại của các mục (với kích thước tùy ý) xuất hiện trong dữ liệu giao dịch có khả năng rất lớn</a:t>
            </a:r>
          </a:p>
          <a:p>
            <a:pPr algn="l">
              <a:lnSpc>
                <a:spcPts val="3499"/>
              </a:lnSpc>
            </a:pPr>
            <a:r>
              <a:rPr lang="en-US" sz="2499">
                <a:solidFill>
                  <a:srgbClr val="000000"/>
                </a:solidFill>
                <a:latin typeface="Muli"/>
                <a:ea typeface="Muli"/>
                <a:cs typeface="Muli"/>
                <a:sym typeface="Muli"/>
              </a:rPr>
              <a:t>Tuy nhiên, bài toán khai thác tập mục truyền thống dựa trên ba giả định sau:</a:t>
            </a:r>
          </a:p>
          <a:p>
            <a:pPr marL="539749" lvl="1" indent="-269875" algn="l">
              <a:lnSpc>
                <a:spcPts val="3499"/>
              </a:lnSpc>
              <a:buAutoNum type="arabicPeriod"/>
            </a:pPr>
            <a:r>
              <a:rPr lang="en-US" sz="2499">
                <a:solidFill>
                  <a:srgbClr val="000000"/>
                </a:solidFill>
                <a:latin typeface="Muli"/>
                <a:ea typeface="Muli"/>
                <a:cs typeface="Muli"/>
                <a:sym typeface="Muli"/>
              </a:rPr>
              <a:t>Các mặt hàng xuất hiện tối đa một lần trong mỗi giao dịch (ví dụ: chúng ta bỏ qua số lượng mặt hàng đã mua trong mỗi giỏ hàng)</a:t>
            </a:r>
          </a:p>
          <a:p>
            <a:pPr marL="539749" lvl="1" indent="-269875" algn="l">
              <a:lnSpc>
                <a:spcPts val="3499"/>
              </a:lnSpc>
              <a:buAutoNum type="arabicPeriod"/>
            </a:pPr>
            <a:r>
              <a:rPr lang="en-US" sz="2499">
                <a:solidFill>
                  <a:srgbClr val="000000"/>
                </a:solidFill>
                <a:latin typeface="Muli"/>
                <a:ea typeface="Muli"/>
                <a:cs typeface="Muli"/>
                <a:sym typeface="Muli"/>
              </a:rPr>
              <a:t> Tất cả các mặt hàng đều có tầm quan trọng như nhau trong dữ liệu được phân tích (ví dụ: lợi nhuận đơn vị được giả định là giống nhau cho tất cả các mặt hàng trong thị thường)</a:t>
            </a:r>
          </a:p>
          <a:p>
            <a:pPr marL="539749" lvl="1" indent="-269875" algn="l">
              <a:lnSpc>
                <a:spcPts val="3499"/>
              </a:lnSpc>
              <a:buAutoNum type="arabicPeriod"/>
            </a:pPr>
            <a:r>
              <a:rPr lang="en-US" sz="2499">
                <a:solidFill>
                  <a:srgbClr val="000000"/>
                </a:solidFill>
                <a:latin typeface="Muli"/>
                <a:ea typeface="Muli"/>
                <a:cs typeface="Muli"/>
                <a:sym typeface="Muli"/>
              </a:rPr>
              <a:t> Các mối quan hệ ngữ nghĩa giữa các mặt hàng bị bỏ qua (ví dụ: sự đồng xuất hiện của các mặt hàng thuộc cùng một nhóm sản phẩm trong cùng một giỏ hàng bị xem là không liên quan đến nhau)</a:t>
            </a:r>
          </a:p>
          <a:p>
            <a:pPr algn="l">
              <a:lnSpc>
                <a:spcPts val="3499"/>
              </a:lnSpc>
              <a:spcBef>
                <a:spcPct val="0"/>
              </a:spcBef>
            </a:pPr>
            <a:endParaRPr lang="en-US" sz="2499">
              <a:solidFill>
                <a:srgbClr val="000000"/>
              </a:solidFill>
              <a:latin typeface="Muli"/>
              <a:ea typeface="Muli"/>
              <a:cs typeface="Muli"/>
              <a:sym typeface="Mul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415F"/>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F0F7FE"/>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F0F7FE"/>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FFFF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294283" y="6594549"/>
            <a:ext cx="2168388" cy="3223280"/>
          </a:xfrm>
          <a:custGeom>
            <a:avLst/>
            <a:gdLst/>
            <a:ahLst/>
            <a:cxnLst/>
            <a:rect l="l" t="t" r="r" b="b"/>
            <a:pathLst>
              <a:path w="2168388" h="3223280">
                <a:moveTo>
                  <a:pt x="0" y="0"/>
                </a:moveTo>
                <a:lnTo>
                  <a:pt x="2168388" y="0"/>
                </a:lnTo>
                <a:lnTo>
                  <a:pt x="2168388" y="3223280"/>
                </a:lnTo>
                <a:lnTo>
                  <a:pt x="0" y="32232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565436" y="850989"/>
            <a:ext cx="6698332" cy="1440853"/>
          </a:xfrm>
          <a:prstGeom prst="rect">
            <a:avLst/>
          </a:prstGeom>
        </p:spPr>
        <p:txBody>
          <a:bodyPr lIns="0" tIns="0" rIns="0" bIns="0" rtlCol="0" anchor="t">
            <a:spAutoFit/>
          </a:bodyPr>
          <a:lstStyle/>
          <a:p>
            <a:pPr algn="l">
              <a:lnSpc>
                <a:spcPts val="8083"/>
              </a:lnSpc>
            </a:pPr>
            <a:r>
              <a:rPr lang="en-US" sz="8003" b="1">
                <a:solidFill>
                  <a:srgbClr val="FFFFFF"/>
                </a:solidFill>
                <a:latin typeface="Karnchang SemiCondensed Bold"/>
                <a:ea typeface="Karnchang SemiCondensed Bold"/>
                <a:cs typeface="Karnchang SemiCondensed Bold"/>
                <a:sym typeface="Karnchang SemiCondensed Bold"/>
              </a:rPr>
              <a:t>Giới thiệu</a:t>
            </a:r>
          </a:p>
        </p:txBody>
      </p:sp>
      <p:sp>
        <p:nvSpPr>
          <p:cNvPr id="18" name="TextBox 18"/>
          <p:cNvSpPr txBox="1"/>
          <p:nvPr/>
        </p:nvSpPr>
        <p:spPr>
          <a:xfrm>
            <a:off x="1565436" y="2244217"/>
            <a:ext cx="12095958" cy="4834080"/>
          </a:xfrm>
          <a:prstGeom prst="rect">
            <a:avLst/>
          </a:prstGeom>
        </p:spPr>
        <p:txBody>
          <a:bodyPr lIns="0" tIns="0" rIns="0" bIns="0" rtlCol="0" anchor="t">
            <a:spAutoFit/>
          </a:bodyPr>
          <a:lstStyle/>
          <a:p>
            <a:pPr marL="582928" lvl="1" indent="-291464" algn="l">
              <a:lnSpc>
                <a:spcPts val="3779"/>
              </a:lnSpc>
              <a:buFont typeface="Arial"/>
              <a:buChar char="•"/>
            </a:pPr>
            <a:r>
              <a:rPr lang="en-US" sz="2699">
                <a:solidFill>
                  <a:srgbClr val="FFFFFF"/>
                </a:solidFill>
                <a:latin typeface="Muli"/>
                <a:ea typeface="Muli"/>
                <a:cs typeface="Muli"/>
                <a:sym typeface="Muli"/>
              </a:rPr>
              <a:t>Để khắc phục hạn chế (1) và (2), tập mục hữu ích cao (High-Utility Itemset- HUI) đã được đề xuất. </a:t>
            </a:r>
          </a:p>
          <a:p>
            <a:pPr marL="582928" lvl="1" indent="-291464" algn="l">
              <a:lnSpc>
                <a:spcPts val="3779"/>
              </a:lnSpc>
              <a:buFont typeface="Arial"/>
              <a:buChar char="•"/>
            </a:pPr>
            <a:r>
              <a:rPr lang="en-US" sz="2699">
                <a:solidFill>
                  <a:srgbClr val="FFFFFF"/>
                </a:solidFill>
                <a:latin typeface="Muli"/>
                <a:ea typeface="Muli"/>
                <a:cs typeface="Muli"/>
                <a:sym typeface="Muli"/>
              </a:rPr>
              <a:t>Nó đại diện cho các tập hợp các mặt hàng thường xuyên cùng xuất hiện và được đặc trưng bởi độ hữu ích trung bình cao trong dữ liệu phân tích.</a:t>
            </a:r>
          </a:p>
          <a:p>
            <a:pPr marL="582928" lvl="1" indent="-291464" algn="l">
              <a:lnSpc>
                <a:spcPts val="3779"/>
              </a:lnSpc>
              <a:spcBef>
                <a:spcPct val="0"/>
              </a:spcBef>
              <a:buFont typeface="Arial"/>
              <a:buChar char="•"/>
            </a:pPr>
            <a:r>
              <a:rPr lang="en-US" sz="2699">
                <a:solidFill>
                  <a:srgbClr val="FFFFFF"/>
                </a:solidFill>
                <a:latin typeface="Muli"/>
                <a:ea typeface="Muli"/>
                <a:cs typeface="Muli"/>
                <a:sym typeface="Muli"/>
              </a:rPr>
              <a:t>Khai thác tập mục hữu ích cao HUIM (High - Utility Itemset Mining: là khám phá các tổ hợp mục (item) xuất hiện lặp lại được đặc trưng bởi lợi nhuận cao từ các tập dữ liệu giao dịch.</a:t>
            </a:r>
          </a:p>
          <a:p>
            <a:pPr marL="582928" lvl="1" indent="-291464" algn="l">
              <a:lnSpc>
                <a:spcPts val="3779"/>
              </a:lnSpc>
              <a:spcBef>
                <a:spcPct val="0"/>
              </a:spcBef>
              <a:buFont typeface="Arial"/>
              <a:buChar char="•"/>
            </a:pPr>
            <a:r>
              <a:rPr lang="en-US" sz="2699">
                <a:solidFill>
                  <a:srgbClr val="FFFFFF"/>
                </a:solidFill>
                <a:latin typeface="Muli"/>
                <a:ea typeface="Muli"/>
                <a:cs typeface="Muli"/>
                <a:sym typeface="Muli"/>
              </a:rPr>
              <a:t>Nhiều thuật toán đã được đề xuất để trích xuất hiệu quả các HUI như HUI đóng(closed HUIs) và top-k HUIs. </a:t>
            </a:r>
          </a:p>
          <a:p>
            <a:pPr marL="291464" lvl="1" algn="l">
              <a:lnSpc>
                <a:spcPts val="3779"/>
              </a:lnSpc>
              <a:spcBef>
                <a:spcPct val="0"/>
              </a:spcBef>
            </a:pPr>
            <a:r>
              <a:rPr lang="en-US" sz="2800" b="1">
                <a:solidFill>
                  <a:srgbClr val="FFFFFF"/>
                </a:solidFill>
                <a:latin typeface="Muli"/>
                <a:ea typeface="Muli"/>
                <a:cs typeface="Muli"/>
                <a:sym typeface="Wingdings" panose="05000000000000000000" pitchFamily="2" charset="2"/>
              </a:rPr>
              <a:t></a:t>
            </a:r>
            <a:r>
              <a:rPr lang="en-US" sz="2800" b="1">
                <a:solidFill>
                  <a:srgbClr val="FFFFFF"/>
                </a:solidFill>
                <a:latin typeface="Muli"/>
                <a:ea typeface="Muli"/>
                <a:cs typeface="Muli"/>
                <a:sym typeface="Muli"/>
              </a:rPr>
              <a:t> Vẫn không thể khắc phục triệt để các hạn chế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FCDFF"/>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FFFF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flipH="1">
            <a:off x="14526283" y="7289245"/>
            <a:ext cx="4153777" cy="2673522"/>
          </a:xfrm>
          <a:custGeom>
            <a:avLst/>
            <a:gdLst/>
            <a:ahLst/>
            <a:cxnLst/>
            <a:rect l="l" t="t" r="r" b="b"/>
            <a:pathLst>
              <a:path w="4153777" h="2673522">
                <a:moveTo>
                  <a:pt x="4153777" y="0"/>
                </a:moveTo>
                <a:lnTo>
                  <a:pt x="0" y="0"/>
                </a:lnTo>
                <a:lnTo>
                  <a:pt x="0" y="2673522"/>
                </a:lnTo>
                <a:lnTo>
                  <a:pt x="4153777" y="2673522"/>
                </a:lnTo>
                <a:lnTo>
                  <a:pt x="4153777"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7" name="Group 17"/>
          <p:cNvGrpSpPr/>
          <p:nvPr/>
        </p:nvGrpSpPr>
        <p:grpSpPr>
          <a:xfrm>
            <a:off x="793504" y="1307804"/>
            <a:ext cx="14504712" cy="7671391"/>
            <a:chOff x="0" y="0"/>
            <a:chExt cx="17555933" cy="9285150"/>
          </a:xfrm>
        </p:grpSpPr>
        <p:sp>
          <p:nvSpPr>
            <p:cNvPr id="18" name="Freeform 18"/>
            <p:cNvSpPr/>
            <p:nvPr/>
          </p:nvSpPr>
          <p:spPr>
            <a:xfrm>
              <a:off x="818276" y="412058"/>
              <a:ext cx="15962957" cy="8392077"/>
            </a:xfrm>
            <a:custGeom>
              <a:avLst/>
              <a:gdLst/>
              <a:ahLst/>
              <a:cxnLst/>
              <a:rect l="l" t="t" r="r" b="b"/>
              <a:pathLst>
                <a:path w="15962957" h="8392077">
                  <a:moveTo>
                    <a:pt x="197724" y="135312"/>
                  </a:moveTo>
                  <a:cubicBezTo>
                    <a:pt x="176134" y="135312"/>
                    <a:pt x="158354" y="135312"/>
                    <a:pt x="140574" y="135312"/>
                  </a:cubicBezTo>
                  <a:cubicBezTo>
                    <a:pt x="139304" y="132772"/>
                    <a:pt x="138034" y="130232"/>
                    <a:pt x="136764" y="127692"/>
                  </a:cubicBezTo>
                  <a:cubicBezTo>
                    <a:pt x="616824" y="-100908"/>
                    <a:pt x="1213724" y="54032"/>
                    <a:pt x="1733154" y="21012"/>
                  </a:cubicBezTo>
                  <a:cubicBezTo>
                    <a:pt x="13629968" y="37522"/>
                    <a:pt x="14320848" y="15932"/>
                    <a:pt x="15010457" y="5772"/>
                  </a:cubicBezTo>
                  <a:cubicBezTo>
                    <a:pt x="16036618" y="-18358"/>
                    <a:pt x="15943907" y="179762"/>
                    <a:pt x="15962957" y="1096702"/>
                  </a:cubicBezTo>
                  <a:cubicBezTo>
                    <a:pt x="15937557" y="2583243"/>
                    <a:pt x="15975657" y="6218792"/>
                    <a:pt x="15956607" y="7312261"/>
                  </a:cubicBezTo>
                  <a:cubicBezTo>
                    <a:pt x="15955337" y="7564992"/>
                    <a:pt x="15957877" y="7817722"/>
                    <a:pt x="15957877" y="8070451"/>
                  </a:cubicBezTo>
                  <a:cubicBezTo>
                    <a:pt x="15971848" y="8282542"/>
                    <a:pt x="15825798" y="8330801"/>
                    <a:pt x="15641648" y="8330801"/>
                  </a:cubicBezTo>
                  <a:cubicBezTo>
                    <a:pt x="14261157" y="8377792"/>
                    <a:pt x="1670924" y="8407001"/>
                    <a:pt x="289164" y="8384142"/>
                  </a:cubicBezTo>
                  <a:cubicBezTo>
                    <a:pt x="64374" y="8372711"/>
                    <a:pt x="51674" y="8108551"/>
                    <a:pt x="28814" y="7937101"/>
                  </a:cubicBezTo>
                  <a:cubicBezTo>
                    <a:pt x="9764" y="7496411"/>
                    <a:pt x="21194" y="7054451"/>
                    <a:pt x="21194" y="6613762"/>
                  </a:cubicBezTo>
                  <a:cubicBezTo>
                    <a:pt x="25004" y="5368221"/>
                    <a:pt x="-5476" y="2888692"/>
                    <a:pt x="874" y="1575492"/>
                  </a:cubicBezTo>
                  <a:cubicBezTo>
                    <a:pt x="36434" y="1146232"/>
                    <a:pt x="-89296" y="464242"/>
                    <a:pt x="197724" y="135312"/>
                  </a:cubicBezTo>
                  <a:close/>
                  <a:moveTo>
                    <a:pt x="15896918" y="742372"/>
                  </a:moveTo>
                  <a:cubicBezTo>
                    <a:pt x="14374187" y="807142"/>
                    <a:pt x="1646794" y="751262"/>
                    <a:pt x="122794" y="794442"/>
                  </a:cubicBezTo>
                  <a:cubicBezTo>
                    <a:pt x="70724" y="795712"/>
                    <a:pt x="69454" y="796982"/>
                    <a:pt x="69454" y="847782"/>
                  </a:cubicBezTo>
                  <a:cubicBezTo>
                    <a:pt x="35164" y="1933632"/>
                    <a:pt x="80884" y="5516454"/>
                    <a:pt x="75804" y="7039212"/>
                  </a:cubicBezTo>
                  <a:cubicBezTo>
                    <a:pt x="85964" y="7420212"/>
                    <a:pt x="44054" y="7806292"/>
                    <a:pt x="131684" y="8180942"/>
                  </a:cubicBezTo>
                  <a:cubicBezTo>
                    <a:pt x="190104" y="8433672"/>
                    <a:pt x="550784" y="8329532"/>
                    <a:pt x="742554" y="8358742"/>
                  </a:cubicBezTo>
                  <a:cubicBezTo>
                    <a:pt x="4403697" y="8329532"/>
                    <a:pt x="14290368" y="8323182"/>
                    <a:pt x="15461307" y="8274922"/>
                  </a:cubicBezTo>
                  <a:cubicBezTo>
                    <a:pt x="16082337" y="8281272"/>
                    <a:pt x="15865168" y="8142842"/>
                    <a:pt x="15898187" y="7642462"/>
                  </a:cubicBezTo>
                  <a:cubicBezTo>
                    <a:pt x="15901998" y="6321662"/>
                    <a:pt x="15877868" y="2138546"/>
                    <a:pt x="15896918" y="742372"/>
                  </a:cubicBezTo>
                  <a:close/>
                  <a:moveTo>
                    <a:pt x="71994" y="747452"/>
                  </a:moveTo>
                  <a:cubicBezTo>
                    <a:pt x="1612504" y="719512"/>
                    <a:pt x="14355137" y="724592"/>
                    <a:pt x="15895648" y="683952"/>
                  </a:cubicBezTo>
                  <a:cubicBezTo>
                    <a:pt x="15866437" y="106102"/>
                    <a:pt x="15800398" y="92132"/>
                    <a:pt x="15233977" y="62922"/>
                  </a:cubicBezTo>
                  <a:cubicBezTo>
                    <a:pt x="14814877" y="57842"/>
                    <a:pt x="14395777" y="70542"/>
                    <a:pt x="13976677" y="78162"/>
                  </a:cubicBezTo>
                  <a:cubicBezTo>
                    <a:pt x="6446670" y="114992"/>
                    <a:pt x="1155304" y="24822"/>
                    <a:pt x="350124" y="95942"/>
                  </a:cubicBezTo>
                  <a:cubicBezTo>
                    <a:pt x="102474" y="160712"/>
                    <a:pt x="92314" y="531552"/>
                    <a:pt x="71994" y="747452"/>
                  </a:cubicBezTo>
                  <a:close/>
                  <a:moveTo>
                    <a:pt x="13407718" y="8184751"/>
                  </a:moveTo>
                  <a:cubicBezTo>
                    <a:pt x="10430455" y="8155542"/>
                    <a:pt x="1559164" y="8267301"/>
                    <a:pt x="1560434" y="8080611"/>
                  </a:cubicBezTo>
                  <a:cubicBezTo>
                    <a:pt x="1573134" y="7871061"/>
                    <a:pt x="1533764" y="7751682"/>
                    <a:pt x="1795384" y="7754222"/>
                  </a:cubicBezTo>
                  <a:cubicBezTo>
                    <a:pt x="13345487" y="7740251"/>
                    <a:pt x="13689657" y="7727551"/>
                    <a:pt x="14035098" y="7740251"/>
                  </a:cubicBezTo>
                  <a:cubicBezTo>
                    <a:pt x="14125268" y="7756761"/>
                    <a:pt x="14263698" y="7725011"/>
                    <a:pt x="14328468" y="7796132"/>
                  </a:cubicBezTo>
                  <a:cubicBezTo>
                    <a:pt x="14353868" y="7937101"/>
                    <a:pt x="14391968" y="8131411"/>
                    <a:pt x="14188768" y="8149192"/>
                  </a:cubicBezTo>
                  <a:cubicBezTo>
                    <a:pt x="13929687" y="8188561"/>
                    <a:pt x="13669337" y="8182211"/>
                    <a:pt x="13407718" y="8179672"/>
                  </a:cubicBezTo>
                  <a:cubicBezTo>
                    <a:pt x="13407718" y="8180942"/>
                    <a:pt x="13407718" y="8183482"/>
                    <a:pt x="13407718" y="8184751"/>
                  </a:cubicBezTo>
                  <a:close/>
                  <a:moveTo>
                    <a:pt x="13365807" y="8140301"/>
                  </a:moveTo>
                  <a:cubicBezTo>
                    <a:pt x="13365807" y="8139032"/>
                    <a:pt x="13365807" y="8139032"/>
                    <a:pt x="13365807" y="8137761"/>
                  </a:cubicBezTo>
                  <a:cubicBezTo>
                    <a:pt x="13534718" y="8100932"/>
                    <a:pt x="14347518" y="8194911"/>
                    <a:pt x="14323387" y="7981551"/>
                  </a:cubicBezTo>
                  <a:cubicBezTo>
                    <a:pt x="14309418" y="7923132"/>
                    <a:pt x="14339898" y="7793592"/>
                    <a:pt x="14259887" y="7787242"/>
                  </a:cubicBezTo>
                  <a:cubicBezTo>
                    <a:pt x="13889048" y="7775811"/>
                    <a:pt x="13519477" y="7797401"/>
                    <a:pt x="5578411" y="7805022"/>
                  </a:cubicBezTo>
                  <a:cubicBezTo>
                    <a:pt x="1830944" y="7826611"/>
                    <a:pt x="1599804" y="7774542"/>
                    <a:pt x="1602344" y="7942182"/>
                  </a:cubicBezTo>
                  <a:cubicBezTo>
                    <a:pt x="1604884" y="8038701"/>
                    <a:pt x="1578214" y="8154272"/>
                    <a:pt x="1714104" y="8140301"/>
                  </a:cubicBezTo>
                  <a:cubicBezTo>
                    <a:pt x="2360739" y="8140301"/>
                    <a:pt x="8336412" y="8140301"/>
                    <a:pt x="13365807" y="8140301"/>
                  </a:cubicBezTo>
                  <a:close/>
                  <a:moveTo>
                    <a:pt x="771764" y="583622"/>
                  </a:moveTo>
                  <a:cubicBezTo>
                    <a:pt x="557134" y="569652"/>
                    <a:pt x="606664" y="297872"/>
                    <a:pt x="793354" y="325812"/>
                  </a:cubicBezTo>
                  <a:cubicBezTo>
                    <a:pt x="969884" y="366452"/>
                    <a:pt x="941944" y="550602"/>
                    <a:pt x="771764" y="583622"/>
                  </a:cubicBezTo>
                  <a:close/>
                  <a:moveTo>
                    <a:pt x="783194" y="513772"/>
                  </a:moveTo>
                  <a:cubicBezTo>
                    <a:pt x="924164" y="488372"/>
                    <a:pt x="844154" y="357562"/>
                    <a:pt x="738744" y="366452"/>
                  </a:cubicBezTo>
                  <a:cubicBezTo>
                    <a:pt x="647304" y="414712"/>
                    <a:pt x="677784" y="516312"/>
                    <a:pt x="783194" y="513772"/>
                  </a:cubicBezTo>
                  <a:close/>
                  <a:moveTo>
                    <a:pt x="1225154" y="447732"/>
                  </a:moveTo>
                  <a:cubicBezTo>
                    <a:pt x="1230234" y="573462"/>
                    <a:pt x="1033384" y="591242"/>
                    <a:pt x="991474" y="487102"/>
                  </a:cubicBezTo>
                  <a:cubicBezTo>
                    <a:pt x="954644" y="413442"/>
                    <a:pt x="1039734" y="301682"/>
                    <a:pt x="1122284" y="332162"/>
                  </a:cubicBezTo>
                  <a:cubicBezTo>
                    <a:pt x="1195944" y="370262"/>
                    <a:pt x="1225154" y="403282"/>
                    <a:pt x="1225154" y="447732"/>
                  </a:cubicBezTo>
                  <a:close/>
                  <a:moveTo>
                    <a:pt x="1192134" y="440112"/>
                  </a:moveTo>
                  <a:cubicBezTo>
                    <a:pt x="1122284" y="376612"/>
                    <a:pt x="1104504" y="318192"/>
                    <a:pt x="1048624" y="429952"/>
                  </a:cubicBezTo>
                  <a:cubicBezTo>
                    <a:pt x="1048624" y="517582"/>
                    <a:pt x="1160384" y="525202"/>
                    <a:pt x="1192134" y="440112"/>
                  </a:cubicBezTo>
                  <a:close/>
                  <a:moveTo>
                    <a:pt x="533004" y="445192"/>
                  </a:moveTo>
                  <a:cubicBezTo>
                    <a:pt x="548244" y="605212"/>
                    <a:pt x="286624" y="606482"/>
                    <a:pt x="305674" y="449002"/>
                  </a:cubicBezTo>
                  <a:cubicBezTo>
                    <a:pt x="318374" y="343592"/>
                    <a:pt x="545704" y="306762"/>
                    <a:pt x="533004" y="445192"/>
                  </a:cubicBezTo>
                  <a:close/>
                  <a:moveTo>
                    <a:pt x="488554" y="441382"/>
                  </a:moveTo>
                  <a:cubicBezTo>
                    <a:pt x="494904" y="352482"/>
                    <a:pt x="355204" y="404552"/>
                    <a:pt x="357744" y="462972"/>
                  </a:cubicBezTo>
                  <a:cubicBezTo>
                    <a:pt x="362824" y="540442"/>
                    <a:pt x="492364" y="527742"/>
                    <a:pt x="488554" y="441382"/>
                  </a:cubicBezTo>
                  <a:close/>
                </a:path>
              </a:pathLst>
            </a:custGeom>
            <a:solidFill>
              <a:srgbClr val="5284FF"/>
            </a:solidFill>
          </p:spPr>
        </p:sp>
      </p:grpSp>
      <p:sp>
        <p:nvSpPr>
          <p:cNvPr id="19" name="TextBox 19"/>
          <p:cNvSpPr txBox="1"/>
          <p:nvPr/>
        </p:nvSpPr>
        <p:spPr>
          <a:xfrm>
            <a:off x="1704760" y="429811"/>
            <a:ext cx="6698332" cy="1440853"/>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Giới thiệu</a:t>
            </a:r>
          </a:p>
        </p:txBody>
      </p:sp>
      <p:sp>
        <p:nvSpPr>
          <p:cNvPr id="20" name="TextBox 20"/>
          <p:cNvSpPr txBox="1"/>
          <p:nvPr/>
        </p:nvSpPr>
        <p:spPr>
          <a:xfrm>
            <a:off x="1709309" y="2464336"/>
            <a:ext cx="12551175" cy="4794770"/>
          </a:xfrm>
          <a:prstGeom prst="rect">
            <a:avLst/>
          </a:prstGeom>
        </p:spPr>
        <p:txBody>
          <a:bodyPr lIns="0" tIns="0" rIns="0" bIns="0" rtlCol="0" anchor="t">
            <a:spAutoFit/>
          </a:bodyPr>
          <a:lstStyle/>
          <a:p>
            <a:pPr marL="539749" lvl="1" indent="-269875" algn="l">
              <a:lnSpc>
                <a:spcPts val="3499"/>
              </a:lnSpc>
              <a:spcBef>
                <a:spcPct val="0"/>
              </a:spcBef>
              <a:buFont typeface="Arial"/>
              <a:buChar char="•"/>
            </a:pPr>
            <a:r>
              <a:rPr lang="en-US" sz="2499">
                <a:solidFill>
                  <a:srgbClr val="000000"/>
                </a:solidFill>
                <a:latin typeface="Muli"/>
                <a:ea typeface="Muli"/>
                <a:cs typeface="Muli"/>
                <a:sym typeface="Muli"/>
              </a:rPr>
              <a:t>Để khai thác một cách hiệu quả bài báo đề xuất một loại mẫu mới Tập mục hữu ích cao tổng quát hoá ra đời (Generalized High-utility Itemsets-GHUIs)</a:t>
            </a:r>
          </a:p>
          <a:p>
            <a:pPr marL="539749" lvl="1" indent="-269875" algn="l">
              <a:lnSpc>
                <a:spcPts val="3499"/>
              </a:lnSpc>
              <a:spcBef>
                <a:spcPct val="0"/>
              </a:spcBef>
              <a:buFont typeface="Arial"/>
              <a:buChar char="•"/>
            </a:pPr>
            <a:r>
              <a:rPr lang="en-US" sz="2499">
                <a:solidFill>
                  <a:srgbClr val="000000"/>
                </a:solidFill>
                <a:latin typeface="Muli"/>
                <a:ea typeface="Muli"/>
                <a:cs typeface="Muli"/>
                <a:sym typeface="Muli"/>
              </a:rPr>
              <a:t>Phương pháp được đề xuất cho phép cả việc xuất hiện nhiều lần của cùng một mặt hàng trong mỗi giao dịch và lợi nhuận khác nhau của từng mặt hàng. </a:t>
            </a:r>
          </a:p>
          <a:p>
            <a:pPr marL="539749" lvl="1" indent="-269875" algn="l">
              <a:lnSpc>
                <a:spcPts val="3499"/>
              </a:lnSpc>
              <a:spcBef>
                <a:spcPct val="0"/>
              </a:spcBef>
              <a:buFont typeface="Arial"/>
              <a:buChar char="•"/>
            </a:pPr>
            <a:r>
              <a:rPr lang="en-US" sz="2499">
                <a:solidFill>
                  <a:srgbClr val="000000"/>
                </a:solidFill>
                <a:latin typeface="Muli"/>
                <a:ea typeface="Muli"/>
                <a:cs typeface="Muli"/>
                <a:sym typeface="Muli"/>
              </a:rPr>
              <a:t>GHUIs được chiết xuất từ một tập dữ liệu giao dịch được làm phóng phú bởi một phân loại học, mô tả các mối quan hệ “là một” (is-a) về mặt ngữ nghĩa giữa các mục dữ liệu </a:t>
            </a:r>
          </a:p>
          <a:p>
            <a:pPr marL="539749" lvl="1" indent="-269875" algn="l">
              <a:lnSpc>
                <a:spcPts val="3499"/>
              </a:lnSpc>
              <a:spcBef>
                <a:spcPct val="0"/>
              </a:spcBef>
              <a:buFont typeface="Arial"/>
              <a:buChar char="•"/>
            </a:pPr>
            <a:r>
              <a:rPr lang="en-US" sz="2499">
                <a:solidFill>
                  <a:srgbClr val="000000"/>
                </a:solidFill>
                <a:latin typeface="Muli"/>
                <a:ea typeface="Muli"/>
                <a:cs typeface="Muli"/>
                <a:sym typeface="Muli"/>
              </a:rPr>
              <a:t>Sử dụng ML-HUI Miner, một thuật toán mở rộng từ thuật toán khai thác được để xuất tích hợp thông tin phân loại học vào quá trình khai thác tập mục hữu dụng để khai thác các GHUI trong một pha duy nhất (single-phase).</a:t>
            </a:r>
          </a:p>
          <a:p>
            <a:pPr algn="l">
              <a:lnSpc>
                <a:spcPts val="3499"/>
              </a:lnSpc>
              <a:spcBef>
                <a:spcPct val="0"/>
              </a:spcBef>
            </a:pPr>
            <a:endParaRPr lang="en-US" sz="2499">
              <a:solidFill>
                <a:srgbClr val="000000"/>
              </a:solidFill>
              <a:latin typeface="Muli"/>
              <a:ea typeface="Muli"/>
              <a:cs typeface="Muli"/>
              <a:sym typeface="Mul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17415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283759" y="6608588"/>
            <a:ext cx="1975541" cy="3186356"/>
          </a:xfrm>
          <a:custGeom>
            <a:avLst/>
            <a:gdLst/>
            <a:ahLst/>
            <a:cxnLst/>
            <a:rect l="l" t="t" r="r" b="b"/>
            <a:pathLst>
              <a:path w="1975541" h="3186356">
                <a:moveTo>
                  <a:pt x="0" y="0"/>
                </a:moveTo>
                <a:lnTo>
                  <a:pt x="1975541" y="0"/>
                </a:lnTo>
                <a:lnTo>
                  <a:pt x="1975541"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028700" y="571500"/>
            <a:ext cx="10617228" cy="2472651"/>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Cơ sở lí thuyết</a:t>
            </a:r>
          </a:p>
          <a:p>
            <a:pPr marL="1727905" lvl="1" indent="-863953" algn="l">
              <a:lnSpc>
                <a:spcPts val="8083"/>
              </a:lnSpc>
              <a:buAutoNum type="arabicPeriod"/>
            </a:pPr>
            <a:r>
              <a:rPr lang="en-US" sz="8003" b="1">
                <a:solidFill>
                  <a:srgbClr val="17415F"/>
                </a:solidFill>
                <a:latin typeface="Karnchang SemiCondensed Bold"/>
                <a:ea typeface="Karnchang SemiCondensed Bold"/>
                <a:cs typeface="Karnchang SemiCondensed Bold"/>
                <a:sym typeface="Karnchang SemiCondensed Bold"/>
              </a:rPr>
              <a:t>Một số định nghĩa</a:t>
            </a:r>
          </a:p>
        </p:txBody>
      </p:sp>
      <mc:AlternateContent xmlns:mc="http://schemas.openxmlformats.org/markup-compatibility/2006">
        <mc:Choice xmlns:a14="http://schemas.microsoft.com/office/drawing/2010/main" Requires="a14">
          <p:sp>
            <p:nvSpPr>
              <p:cNvPr id="18" name="TextBox 18"/>
              <p:cNvSpPr txBox="1"/>
              <p:nvPr/>
            </p:nvSpPr>
            <p:spPr>
              <a:xfrm>
                <a:off x="1028700" y="2628900"/>
                <a:ext cx="14053773" cy="6697026"/>
              </a:xfrm>
              <a:prstGeom prst="rect">
                <a:avLst/>
              </a:prstGeom>
            </p:spPr>
            <p:txBody>
              <a:bodyPr lIns="0" tIns="0" rIns="0" bIns="0" rtlCol="0" anchor="t">
                <a:spAutoFit/>
              </a:bodyPr>
              <a:lstStyle/>
              <a:p>
                <a:pPr algn="l">
                  <a:lnSpc>
                    <a:spcPts val="3499"/>
                  </a:lnSpc>
                </a:pPr>
                <a:r>
                  <a:rPr lang="en-US" sz="2499" b="1">
                    <a:solidFill>
                      <a:srgbClr val="17415F"/>
                    </a:solidFill>
                    <a:latin typeface="Muli Bold"/>
                    <a:ea typeface="Muli Bold"/>
                    <a:cs typeface="Muli Bold"/>
                    <a:sym typeface="Muli Bold"/>
                  </a:rPr>
                  <a:t>Định nghĩa 1: Độ hữu ích của một mục / tập mục trong giao dịch</a:t>
                </a:r>
              </a:p>
              <a:p>
                <a:pPr algn="l">
                  <a:lnSpc>
                    <a:spcPts val="3499"/>
                  </a:lnSpc>
                </a:pPr>
                <a:r>
                  <a:rPr lang="en-US" sz="2499">
                    <a:solidFill>
                      <a:srgbClr val="17415F"/>
                    </a:solidFill>
                    <a:latin typeface="Muli"/>
                    <a:ea typeface="Muli"/>
                    <a:cs typeface="Muli"/>
                    <a:sym typeface="Muli"/>
                  </a:rPr>
                  <a:t>Giả sử: I là tập hợp tất cả các mục có thể có và tj ∈ I là giao dịch thứ j của một bộ dữ liệu giao dịch D, minutil là ngưỡng hữu ích tối thiểu (do người dùng chỉ định).</a:t>
                </a:r>
              </a:p>
              <a:p>
                <a:pPr algn="l">
                  <a:lnSpc>
                    <a:spcPts val="3499"/>
                  </a:lnSpc>
                </a:pPr>
                <a:r>
                  <a:rPr lang="en-US" sz="2499">
                    <a:solidFill>
                      <a:srgbClr val="17415F"/>
                    </a:solidFill>
                    <a:latin typeface="Muli"/>
                    <a:ea typeface="Muli"/>
                    <a:cs typeface="Muli"/>
                    <a:sym typeface="Muli"/>
                  </a:rPr>
                  <a:t>(1) Độ hữu ích của mục i trong giao dịch tj,  kí hiệu là u(i, tj): </a:t>
                </a:r>
              </a:p>
              <a:p>
                <a:pPr algn="ctr">
                  <a:lnSpc>
                    <a:spcPts val="3499"/>
                  </a:lnSpc>
                </a:pPr>
                <a:r>
                  <a:rPr lang="en-US" sz="2499" b="1">
                    <a:solidFill>
                      <a:srgbClr val="17415F"/>
                    </a:solidFill>
                    <a:latin typeface="Muli Bold"/>
                    <a:ea typeface="Muli Bold"/>
                    <a:cs typeface="Muli Bold"/>
                    <a:sym typeface="Muli Bold"/>
                  </a:rPr>
                  <a:t>u(i, tj)=</a:t>
                </a:r>
                <a:r>
                  <a:rPr lang="en-US" sz="2499">
                    <a:solidFill>
                      <a:srgbClr val="17415F"/>
                    </a:solidFill>
                    <a:latin typeface="Muli"/>
                    <a:ea typeface="Muli"/>
                    <a:cs typeface="Muli"/>
                    <a:sym typeface="Muli"/>
                  </a:rPr>
                  <a:t> </a:t>
                </a:r>
                <a:r>
                  <a:rPr lang="en-US" sz="2499" b="1">
                    <a:solidFill>
                      <a:srgbClr val="17415F"/>
                    </a:solidFill>
                    <a:latin typeface="Muli Bold"/>
                    <a:ea typeface="Muli Bold"/>
                    <a:cs typeface="Muli Bold"/>
                    <a:sym typeface="Muli Bold"/>
                  </a:rPr>
                  <a:t>eu(i) · iu(i, tj)</a:t>
                </a:r>
              </a:p>
              <a:p>
                <a:pPr marL="539749" lvl="1" indent="-269875" algn="l">
                  <a:lnSpc>
                    <a:spcPts val="3499"/>
                  </a:lnSpc>
                  <a:buFont typeface="Arial"/>
                  <a:buChar char="•"/>
                </a:pPr>
                <a:r>
                  <a:rPr lang="en-US" sz="2499">
                    <a:solidFill>
                      <a:srgbClr val="17415F"/>
                    </a:solidFill>
                    <a:latin typeface="Muli"/>
                    <a:ea typeface="Muli"/>
                    <a:cs typeface="Muli"/>
                    <a:sym typeface="Muli"/>
                  </a:rPr>
                  <a:t>iu(i, tj): Độ hữu ích nội tại của i (Internal Utility) trong giao dịch tj.</a:t>
                </a:r>
              </a:p>
              <a:p>
                <a:pPr marL="539749" lvl="1" indent="-269875" algn="l">
                  <a:lnSpc>
                    <a:spcPts val="3499"/>
                  </a:lnSpc>
                  <a:buFont typeface="Arial"/>
                  <a:buChar char="•"/>
                </a:pPr>
                <a:r>
                  <a:rPr lang="en-US" sz="2499">
                    <a:solidFill>
                      <a:srgbClr val="17415F"/>
                    </a:solidFill>
                    <a:latin typeface="Muli"/>
                    <a:ea typeface="Muli"/>
                    <a:cs typeface="Muli"/>
                    <a:sym typeface="Muli"/>
                  </a:rPr>
                  <a:t>eu(i): Độ hữu ích bên ngoài (External Utility) của i.</a:t>
                </a:r>
              </a:p>
              <a:p>
                <a:pPr algn="l">
                  <a:lnSpc>
                    <a:spcPts val="3499"/>
                  </a:lnSpc>
                </a:pPr>
                <a:r>
                  <a:rPr lang="en-US" sz="2499">
                    <a:solidFill>
                      <a:srgbClr val="17415F"/>
                    </a:solidFill>
                    <a:latin typeface="Muli"/>
                    <a:ea typeface="Muli"/>
                    <a:cs typeface="Muli"/>
                    <a:sym typeface="Muli"/>
                  </a:rPr>
                  <a:t>(2)  Độ hữu ích của tập mục I trong giao dịch tj, kí hiệu là u(I, tj), được xác định bằng Tổng giá trị của tất cả các mục thuộc tập mục đó trong giao dịch: </a:t>
                </a:r>
              </a:p>
              <a:p>
                <a:pPr algn="ctr">
                  <a:lnSpc>
                    <a:spcPts val="3499"/>
                  </a:lnSpc>
                </a:pPr>
                <a:r>
                  <a:rPr lang="en-US" sz="2499" b="1">
                    <a:solidFill>
                      <a:srgbClr val="17415F"/>
                    </a:solidFill>
                    <a:latin typeface="Muli Bold"/>
                    <a:ea typeface="Muli Bold"/>
                    <a:cs typeface="Muli Bold"/>
                    <a:sym typeface="Muli Bold"/>
                  </a:rPr>
                  <a:t>u(I, tj ) = </a:t>
                </a:r>
                <a14:m>
                  <m:oMath xmlns:m="http://schemas.openxmlformats.org/officeDocument/2006/math">
                    <m:nary>
                      <m:naryPr>
                        <m:chr m:val="∑"/>
                        <m:limLoc m:val="subSup"/>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I</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m:t>
                        </m:r>
                      </m:e>
                    </m:nary>
                  </m:oMath>
                </a14:m>
                <a:endParaRPr lang="en-US" sz="2499" b="1">
                  <a:solidFill>
                    <a:srgbClr val="17415F"/>
                  </a:solidFill>
                  <a:latin typeface="Muli Bold"/>
                  <a:ea typeface="Muli Bold"/>
                  <a:cs typeface="Muli Bold"/>
                  <a:sym typeface="Muli Bold"/>
                </a:endParaRPr>
              </a:p>
              <a:p>
                <a:pPr algn="l">
                  <a:lnSpc>
                    <a:spcPts val="3499"/>
                  </a:lnSpc>
                </a:pPr>
                <a:r>
                  <a:rPr lang="en-US" sz="2499">
                    <a:solidFill>
                      <a:srgbClr val="17415F"/>
                    </a:solidFill>
                    <a:latin typeface="Muli"/>
                    <a:ea typeface="Muli"/>
                    <a:cs typeface="Muli"/>
                    <a:sym typeface="Muli"/>
                  </a:rPr>
                  <a:t>(3) Độ hữu ích của tập mục I trong bộ dữ liệu giao dịch D, kí hiệu là u(I, D) được xác định bằng tổng giá trị của tập mục trong tất cả các giao dịch, nếu giao dịch không chứa tập mục thì giá trị bằng 0 ((u(I, tj ) = 0 nếu I ∉ tj))</a:t>
                </a:r>
              </a:p>
              <a:p>
                <a:pPr algn="ctr">
                  <a:lnSpc>
                    <a:spcPts val="3499"/>
                  </a:lnSpc>
                </a:pPr>
                <a:r>
                  <a:rPr lang="en-US" sz="2499" b="1">
                    <a:solidFill>
                      <a:srgbClr val="17415F"/>
                    </a:solidFill>
                    <a:latin typeface="Muli Bold"/>
                    <a:ea typeface="Muli Bold"/>
                    <a:cs typeface="Muli Bold"/>
                    <a:sym typeface="Muli Bold"/>
                  </a:rPr>
                  <a:t>u(I,D) = </a:t>
                </a:r>
                <a14:m>
                  <m:oMath xmlns:m="http://schemas.openxmlformats.org/officeDocument/2006/math">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D</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m:t>
                        </m:r>
                      </m:e>
                    </m:nary>
                  </m:oMath>
                </a14:m>
                <a:endParaRPr lang="en-US" sz="2499" b="1">
                  <a:solidFill>
                    <a:srgbClr val="17415F"/>
                  </a:solidFill>
                  <a:latin typeface="Muli Bold"/>
                  <a:ea typeface="Muli Bold"/>
                  <a:cs typeface="Muli Bold"/>
                  <a:sym typeface="Muli Bold"/>
                </a:endParaRPr>
              </a:p>
              <a:p>
                <a:pPr algn="l">
                  <a:lnSpc>
                    <a:spcPts val="3499"/>
                  </a:lnSpc>
                  <a:spcBef>
                    <a:spcPct val="0"/>
                  </a:spcBef>
                </a:pPr>
                <a:endParaRPr lang="en-US" sz="2499" b="1">
                  <a:solidFill>
                    <a:srgbClr val="17415F"/>
                  </a:solidFill>
                  <a:latin typeface="Muli Bold"/>
                  <a:ea typeface="Muli Bold"/>
                  <a:cs typeface="Muli Bold"/>
                  <a:sym typeface="Muli Bold"/>
                </a:endParaRPr>
              </a:p>
            </p:txBody>
          </p:sp>
        </mc:Choice>
        <mc:Fallback>
          <p:sp>
            <p:nvSpPr>
              <p:cNvPr id="18" name="TextBox 18"/>
              <p:cNvSpPr txBox="1">
                <a:spLocks noRot="1" noChangeAspect="1" noMove="1" noResize="1" noEditPoints="1" noAdjustHandles="1" noChangeArrowheads="1" noChangeShapeType="1" noTextEdit="1"/>
              </p:cNvSpPr>
              <p:nvPr/>
            </p:nvSpPr>
            <p:spPr>
              <a:xfrm>
                <a:off x="1028700" y="2628900"/>
                <a:ext cx="14053773" cy="6697026"/>
              </a:xfrm>
              <a:prstGeom prst="rect">
                <a:avLst/>
              </a:prstGeom>
              <a:blipFill>
                <a:blip r:embed="rId4"/>
                <a:stretch>
                  <a:fillRect l="-1388" t="-1001" r="-521" b="-5914"/>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17415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283759" y="6608588"/>
            <a:ext cx="1975541" cy="3186356"/>
          </a:xfrm>
          <a:custGeom>
            <a:avLst/>
            <a:gdLst/>
            <a:ahLst/>
            <a:cxnLst/>
            <a:rect l="l" t="t" r="r" b="b"/>
            <a:pathLst>
              <a:path w="1975541" h="3186356">
                <a:moveTo>
                  <a:pt x="0" y="0"/>
                </a:moveTo>
                <a:lnTo>
                  <a:pt x="1975541" y="0"/>
                </a:lnTo>
                <a:lnTo>
                  <a:pt x="1975541"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028700" y="857250"/>
            <a:ext cx="10617228" cy="2472651"/>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Cơ sở lí thuyết</a:t>
            </a:r>
          </a:p>
          <a:p>
            <a:pPr marL="1727905" lvl="1" indent="-863953" algn="l">
              <a:lnSpc>
                <a:spcPts val="8083"/>
              </a:lnSpc>
              <a:buAutoNum type="arabicPeriod"/>
            </a:pPr>
            <a:r>
              <a:rPr lang="en-US" sz="8003" b="1">
                <a:solidFill>
                  <a:srgbClr val="17415F"/>
                </a:solidFill>
                <a:latin typeface="Karnchang SemiCondensed Bold"/>
                <a:ea typeface="Karnchang SemiCondensed Bold"/>
                <a:cs typeface="Karnchang SemiCondensed Bold"/>
                <a:sym typeface="Karnchang SemiCondensed Bold"/>
              </a:rPr>
              <a:t>Một số định nghĩa</a:t>
            </a:r>
          </a:p>
        </p:txBody>
      </p:sp>
      <mc:AlternateContent xmlns:mc="http://schemas.openxmlformats.org/markup-compatibility/2006">
        <mc:Choice xmlns:a14="http://schemas.microsoft.com/office/drawing/2010/main" Requires="a14">
          <p:sp>
            <p:nvSpPr>
              <p:cNvPr id="18" name="TextBox 18"/>
              <p:cNvSpPr txBox="1"/>
              <p:nvPr/>
            </p:nvSpPr>
            <p:spPr>
              <a:xfrm>
                <a:off x="1028700" y="3291801"/>
                <a:ext cx="14053773" cy="4452822"/>
              </a:xfrm>
              <a:prstGeom prst="rect">
                <a:avLst/>
              </a:prstGeom>
            </p:spPr>
            <p:txBody>
              <a:bodyPr lIns="0" tIns="0" rIns="0" bIns="0" rtlCol="0" anchor="t">
                <a:spAutoFit/>
              </a:bodyPr>
              <a:lstStyle/>
              <a:p>
                <a:pPr algn="l">
                  <a:lnSpc>
                    <a:spcPts val="3499"/>
                  </a:lnSpc>
                </a:pPr>
                <a:r>
                  <a:rPr lang="en-US" sz="2499" b="1">
                    <a:solidFill>
                      <a:srgbClr val="17415F"/>
                    </a:solidFill>
                    <a:latin typeface="Muli Bold"/>
                    <a:ea typeface="Muli Bold"/>
                    <a:cs typeface="Muli Bold"/>
                    <a:sym typeface="Muli Bold"/>
                  </a:rPr>
                  <a:t>Định nghĩa 1: Độ hữu ích của một mục / tập mục trong giao dịch</a:t>
                </a:r>
              </a:p>
              <a:p>
                <a:pPr algn="l">
                  <a:lnSpc>
                    <a:spcPts val="3499"/>
                  </a:lnSpc>
                </a:pPr>
                <a:r>
                  <a:rPr lang="en-US" sz="2499">
                    <a:solidFill>
                      <a:srgbClr val="17415F"/>
                    </a:solidFill>
                    <a:latin typeface="Muli"/>
                    <a:ea typeface="Muli"/>
                    <a:cs typeface="Muli"/>
                    <a:sym typeface="Muli"/>
                  </a:rPr>
                  <a:t>Giả sử: I là tập hợp tất cả các mục có thể có và tj ∈ I là giao dịch thứ j của một bộ dữ liệu giao dịch D, minutil là ngưỡng hữu ích tối thiểu (do người dùng chỉ định).</a:t>
                </a:r>
              </a:p>
              <a:p>
                <a:pPr algn="l">
                  <a:lnSpc>
                    <a:spcPts val="3499"/>
                  </a:lnSpc>
                </a:pPr>
                <a:r>
                  <a:rPr lang="en-US" sz="2499">
                    <a:solidFill>
                      <a:srgbClr val="17415F"/>
                    </a:solidFill>
                    <a:latin typeface="Muli"/>
                    <a:ea typeface="Muli"/>
                    <a:cs typeface="Muli"/>
                    <a:sym typeface="Muli"/>
                  </a:rPr>
                  <a:t>(4) Điều kiện để trở thành tập mục Hữu ích cao HUI (High - Utility Itemset) </a:t>
                </a:r>
              </a:p>
              <a:p>
                <a:pPr algn="ctr">
                  <a:lnSpc>
                    <a:spcPts val="3499"/>
                  </a:lnSpc>
                </a:pPr>
                <a:r>
                  <a:rPr lang="en-US" sz="2499" b="1">
                    <a:solidFill>
                      <a:srgbClr val="17415F"/>
                    </a:solidFill>
                    <a:latin typeface="Muli Bold"/>
                    <a:ea typeface="Muli Bold"/>
                    <a:cs typeface="Muli Bold"/>
                    <a:sym typeface="Muli Bold"/>
                  </a:rPr>
                  <a:t> u(I, D) &gt; minutil</a:t>
                </a:r>
              </a:p>
              <a:p>
                <a:pPr algn="l">
                  <a:lnSpc>
                    <a:spcPts val="3499"/>
                  </a:lnSpc>
                </a:pPr>
                <a:r>
                  <a:rPr lang="en-US" sz="2499">
                    <a:solidFill>
                      <a:srgbClr val="17415F"/>
                    </a:solidFill>
                    <a:latin typeface="Muli"/>
                    <a:ea typeface="Muli"/>
                    <a:cs typeface="Muli"/>
                    <a:sym typeface="Muli"/>
                  </a:rPr>
                  <a:t>(5) Độ hữu ích theo Trọng số giao dịch (Transaction - Weighted Utilization - TWU ), kí hiệu là twu(I),được xác định bằng tổng độ hữu ích (TU) của tất cả các giao dịch chứa I.</a:t>
                </a:r>
              </a:p>
              <a:p>
                <a:pPr algn="ctr">
                  <a:lnSpc>
                    <a:spcPts val="3499"/>
                  </a:lnSpc>
                </a:pPr>
                <a:r>
                  <a:rPr lang="en-US" sz="2499" b="1">
                    <a:solidFill>
                      <a:srgbClr val="17415F"/>
                    </a:solidFill>
                    <a:latin typeface="Muli Bold"/>
                    <a:ea typeface="Muli Bold"/>
                    <a:cs typeface="Muli Bold"/>
                    <a:sym typeface="Muli Bold"/>
                  </a:rPr>
                  <a:t>twu(I) = </a:t>
                </a:r>
                <a14:m>
                  <m:oMath xmlns:m="http://schemas.openxmlformats.org/officeDocument/2006/math">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D</m:t>
                        </m:r>
                        <m:r>
                          <m:rPr>
                            <m:nor/>
                          </m:rPr>
                          <a:rPr lang="en-US" sz="2499" b="1">
                            <a:solidFill>
                              <a:srgbClr val="17415F"/>
                            </a:solidFill>
                            <a:latin typeface="Muli Bold"/>
                            <a:ea typeface="Muli Bold"/>
                            <a:cs typeface="Muli Bold"/>
                            <a:sym typeface="Muli Bold"/>
                          </a:rPr>
                          <m:t> | </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 ⊆ </m:t>
                        </m:r>
                        <m:r>
                          <m:rPr>
                            <m:nor/>
                          </m:rPr>
                          <a:rPr lang="en-US" sz="2499" b="1">
                            <a:solidFill>
                              <a:srgbClr val="17415F"/>
                            </a:solidFill>
                            <a:latin typeface="Muli Bold"/>
                            <a:ea typeface="Muli Bold"/>
                            <a:cs typeface="Muli Bold"/>
                            <a:sym typeface="Muli Bold"/>
                          </a:rPr>
                          <m:t>tj</m:t>
                        </m:r>
                      </m:sub>
                      <m:sup/>
                      <m:e>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 ∈ </m:t>
                            </m:r>
                            <m:r>
                              <m:rPr>
                                <m:nor/>
                              </m:rPr>
                              <a:rPr lang="en-US" sz="2499" b="1">
                                <a:solidFill>
                                  <a:srgbClr val="17415F"/>
                                </a:solidFill>
                                <a:latin typeface="Muli Bold"/>
                                <a:ea typeface="Muli Bold"/>
                                <a:cs typeface="Muli Bold"/>
                                <a:sym typeface="Muli Bold"/>
                              </a:rPr>
                              <m:t>tj</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m:t>
                            </m:r>
                          </m:e>
                        </m:nary>
                      </m:e>
                    </m:nary>
                  </m:oMath>
                </a14:m>
                <a:endParaRPr lang="en-US" sz="2499" b="1">
                  <a:solidFill>
                    <a:srgbClr val="17415F"/>
                  </a:solidFill>
                  <a:latin typeface="Muli Bold"/>
                  <a:ea typeface="Muli Bold"/>
                  <a:cs typeface="Muli Bold"/>
                  <a:sym typeface="Muli Bold"/>
                </a:endParaRPr>
              </a:p>
              <a:p>
                <a:pPr algn="l">
                  <a:lnSpc>
                    <a:spcPts val="3499"/>
                  </a:lnSpc>
                </a:pPr>
                <a:endParaRPr lang="en-US" sz="2499" b="1">
                  <a:solidFill>
                    <a:srgbClr val="17415F"/>
                  </a:solidFill>
                  <a:latin typeface="Muli Bold"/>
                  <a:ea typeface="Muli Bold"/>
                  <a:cs typeface="Muli Bold"/>
                  <a:sym typeface="Muli Bold"/>
                </a:endParaRPr>
              </a:p>
              <a:p>
                <a:pPr algn="l">
                  <a:lnSpc>
                    <a:spcPts val="3499"/>
                  </a:lnSpc>
                  <a:spcBef>
                    <a:spcPct val="0"/>
                  </a:spcBef>
                </a:pPr>
                <a:endParaRPr lang="en-US" sz="2499" b="1">
                  <a:solidFill>
                    <a:srgbClr val="17415F"/>
                  </a:solidFill>
                  <a:latin typeface="Muli Bold"/>
                  <a:ea typeface="Muli Bold"/>
                  <a:cs typeface="Muli Bold"/>
                  <a:sym typeface="Muli Bold"/>
                </a:endParaRPr>
              </a:p>
            </p:txBody>
          </p:sp>
        </mc:Choice>
        <mc:Fallback>
          <p:sp>
            <p:nvSpPr>
              <p:cNvPr id="18" name="TextBox 18"/>
              <p:cNvSpPr txBox="1">
                <a:spLocks noRot="1" noChangeAspect="1" noMove="1" noResize="1" noEditPoints="1" noAdjustHandles="1" noChangeArrowheads="1" noChangeShapeType="1" noTextEdit="1"/>
              </p:cNvSpPr>
              <p:nvPr/>
            </p:nvSpPr>
            <p:spPr>
              <a:xfrm>
                <a:off x="1028700" y="3291801"/>
                <a:ext cx="14053773" cy="4452822"/>
              </a:xfrm>
              <a:prstGeom prst="rect">
                <a:avLst/>
              </a:prstGeom>
              <a:blipFill>
                <a:blip r:embed="rId4"/>
                <a:stretch>
                  <a:fillRect l="-1388" t="-1507"/>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17415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635887" y="6471428"/>
            <a:ext cx="1975541" cy="3186356"/>
          </a:xfrm>
          <a:custGeom>
            <a:avLst/>
            <a:gdLst/>
            <a:ahLst/>
            <a:cxnLst/>
            <a:rect l="l" t="t" r="r" b="b"/>
            <a:pathLst>
              <a:path w="1975541" h="3186356">
                <a:moveTo>
                  <a:pt x="0" y="0"/>
                </a:moveTo>
                <a:lnTo>
                  <a:pt x="1975540" y="0"/>
                </a:lnTo>
                <a:lnTo>
                  <a:pt x="1975540"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028700" y="842049"/>
            <a:ext cx="10617228" cy="2472651"/>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Cơ sở lí thuyết</a:t>
            </a:r>
          </a:p>
          <a:p>
            <a:pPr marL="1727905" lvl="1" indent="-863953" algn="l">
              <a:lnSpc>
                <a:spcPts val="8083"/>
              </a:lnSpc>
              <a:buAutoNum type="arabicPeriod"/>
            </a:pPr>
            <a:r>
              <a:rPr lang="en-US" sz="8003" b="1">
                <a:solidFill>
                  <a:srgbClr val="17415F"/>
                </a:solidFill>
                <a:latin typeface="Karnchang SemiCondensed Bold"/>
                <a:ea typeface="Karnchang SemiCondensed Bold"/>
                <a:cs typeface="Karnchang SemiCondensed Bold"/>
                <a:sym typeface="Karnchang SemiCondensed Bold"/>
              </a:rPr>
              <a:t>Một số định nghĩa</a:t>
            </a:r>
          </a:p>
        </p:txBody>
      </p:sp>
      <mc:AlternateContent xmlns:mc="http://schemas.openxmlformats.org/markup-compatibility/2006">
        <mc:Choice xmlns:a14="http://schemas.microsoft.com/office/drawing/2010/main" Requires="a14">
          <p:sp>
            <p:nvSpPr>
              <p:cNvPr id="18" name="TextBox 18"/>
              <p:cNvSpPr txBox="1"/>
              <p:nvPr/>
            </p:nvSpPr>
            <p:spPr>
              <a:xfrm>
                <a:off x="1028700" y="3149127"/>
                <a:ext cx="14266006" cy="4452822"/>
              </a:xfrm>
              <a:prstGeom prst="rect">
                <a:avLst/>
              </a:prstGeom>
            </p:spPr>
            <p:txBody>
              <a:bodyPr lIns="0" tIns="0" rIns="0" bIns="0" rtlCol="0" anchor="t">
                <a:spAutoFit/>
              </a:bodyPr>
              <a:lstStyle/>
              <a:p>
                <a:pPr algn="l">
                  <a:lnSpc>
                    <a:spcPts val="3499"/>
                  </a:lnSpc>
                </a:pPr>
                <a:r>
                  <a:rPr lang="en-US" sz="2499" b="1">
                    <a:solidFill>
                      <a:srgbClr val="17415F"/>
                    </a:solidFill>
                    <a:latin typeface="Muli Bold"/>
                    <a:ea typeface="Muli Bold"/>
                    <a:cs typeface="Muli Bold"/>
                    <a:sym typeface="Muli Bold"/>
                  </a:rPr>
                  <a:t>Định nghĩa 2: Độ hữu ích của một mục tổng quát trong giao dịch</a:t>
                </a:r>
              </a:p>
              <a:p>
                <a:pPr algn="l">
                  <a:lnSpc>
                    <a:spcPts val="3499"/>
                  </a:lnSpc>
                </a:pPr>
                <a:r>
                  <a:rPr lang="en-US" sz="2499">
                    <a:solidFill>
                      <a:srgbClr val="17415F"/>
                    </a:solidFill>
                    <a:latin typeface="Muli"/>
                    <a:ea typeface="Muli"/>
                    <a:cs typeface="Muli"/>
                    <a:sym typeface="Muli"/>
                  </a:rPr>
                  <a:t>Giả sử: g là một mục tổng quát hóa, D là một tập dữ liệu giao dịch, và T là một phân loại học.</a:t>
                </a:r>
              </a:p>
              <a:p>
                <a:pPr algn="l">
                  <a:lnSpc>
                    <a:spcPts val="3499"/>
                  </a:lnSpc>
                </a:pPr>
                <a:r>
                  <a:rPr lang="en-US" sz="2499">
                    <a:solidFill>
                      <a:srgbClr val="17415F"/>
                    </a:solidFill>
                    <a:latin typeface="Muli"/>
                    <a:ea typeface="Muli"/>
                    <a:cs typeface="Muli"/>
                    <a:sym typeface="Muli"/>
                  </a:rPr>
                  <a:t>(1) Độ hữu ích của một mục tổng quát hóa g trong một giao dịch tj ∈ D, kí hiệu là u(g, tj ), được xác định bằng tổng giá trị của tất cả các mục con thuộc mục đó trong cây phân cấp.</a:t>
                </a:r>
              </a:p>
              <a:p>
                <a:pPr algn="ctr">
                  <a:lnSpc>
                    <a:spcPts val="3499"/>
                  </a:lnSpc>
                </a:pPr>
                <a:r>
                  <a:rPr lang="en-US" sz="2499" b="1">
                    <a:solidFill>
                      <a:srgbClr val="17415F"/>
                    </a:solidFill>
                    <a:latin typeface="Muli Bold"/>
                    <a:ea typeface="Muli Bold"/>
                    <a:cs typeface="Muli Bold"/>
                    <a:sym typeface="Muli Bold"/>
                  </a:rPr>
                  <a:t>u(g, tj ) = </a:t>
                </a:r>
                <a14:m>
                  <m:oMath xmlns:m="http://schemas.openxmlformats.org/officeDocument/2006/math">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Desc</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g</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T</m:t>
                        </m:r>
                        <m:r>
                          <m:rPr>
                            <m:nor/>
                          </m:rPr>
                          <a:rPr lang="en-US" sz="2499" b="1">
                            <a:solidFill>
                              <a:srgbClr val="17415F"/>
                            </a:solidFill>
                            <a:latin typeface="Muli Bold"/>
                            <a:ea typeface="Muli Bold"/>
                            <a:cs typeface="Muli Bold"/>
                            <a:sym typeface="Muli Bold"/>
                          </a:rPr>
                          <m:t> )</m:t>
                        </m:r>
                      </m:sub>
                      <m:sup/>
                      <m:e>
                        <m:r>
                          <m:rPr>
                            <m:nor/>
                          </m:rPr>
                          <a:rPr lang="en-US" sz="2499" b="1">
                            <a:solidFill>
                              <a:srgbClr val="17415F"/>
                            </a:solidFill>
                            <a:latin typeface="Muli Bold"/>
                            <a:ea typeface="Muli Bold"/>
                            <a:cs typeface="Muli Bold"/>
                            <a:sym typeface="Muli Bold"/>
                          </a:rPr>
                          <m:t>eu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iu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 )</m:t>
                        </m:r>
                      </m:e>
                    </m:nary>
                  </m:oMath>
                </a14:m>
                <a:endParaRPr lang="en-US" sz="2499" b="1">
                  <a:solidFill>
                    <a:srgbClr val="17415F"/>
                  </a:solidFill>
                  <a:latin typeface="Muli Bold"/>
                  <a:ea typeface="Muli Bold"/>
                  <a:cs typeface="Muli Bold"/>
                  <a:sym typeface="Muli Bold"/>
                </a:endParaRPr>
              </a:p>
              <a:p>
                <a:pPr algn="l">
                  <a:lnSpc>
                    <a:spcPts val="3499"/>
                  </a:lnSpc>
                </a:pPr>
                <a:r>
                  <a:rPr lang="en-US" sz="2499">
                    <a:solidFill>
                      <a:srgbClr val="17415F"/>
                    </a:solidFill>
                    <a:latin typeface="Muli"/>
                    <a:ea typeface="Muli"/>
                    <a:cs typeface="Muli"/>
                    <a:sym typeface="Muli"/>
                  </a:rPr>
                  <a:t>(2) Độ hữu ích của một mục tổng quát hóa g trong D, kí hiệu là u(I, tj), được xác định bằng tổng giá trị của tất cả các mục thuộc tập mục đó trong giao dịch: </a:t>
                </a:r>
              </a:p>
              <a:p>
                <a:pPr algn="ctr">
                  <a:lnSpc>
                    <a:spcPts val="3499"/>
                  </a:lnSpc>
                </a:pPr>
                <a:r>
                  <a:rPr lang="en-US" sz="2499" b="1">
                    <a:solidFill>
                      <a:srgbClr val="17415F"/>
                    </a:solidFill>
                    <a:latin typeface="Muli Bold"/>
                    <a:ea typeface="Muli Bold"/>
                    <a:cs typeface="Muli Bold"/>
                    <a:sym typeface="Muli Bold"/>
                  </a:rPr>
                  <a:t>u(g, D) = </a:t>
                </a:r>
                <a14:m>
                  <m:oMath xmlns:m="http://schemas.openxmlformats.org/officeDocument/2006/math">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Desc</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g</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T</m:t>
                        </m:r>
                        <m:r>
                          <m:rPr>
                            <m:nor/>
                          </m:rPr>
                          <a:rPr lang="en-US" sz="2499" b="1">
                            <a:solidFill>
                              <a:srgbClr val="17415F"/>
                            </a:solidFill>
                            <a:latin typeface="Muli Bold"/>
                            <a:ea typeface="Muli Bold"/>
                            <a:cs typeface="Muli Bold"/>
                            <a:sym typeface="Muli Bold"/>
                          </a:rPr>
                          <m:t> )</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i</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D</m:t>
                        </m:r>
                        <m:r>
                          <m:rPr>
                            <m:nor/>
                          </m:rPr>
                          <a:rPr lang="en-US" sz="2499" b="1">
                            <a:solidFill>
                              <a:srgbClr val="17415F"/>
                            </a:solidFill>
                            <a:latin typeface="Muli Bold"/>
                            <a:ea typeface="Muli Bold"/>
                            <a:cs typeface="Muli Bold"/>
                            <a:sym typeface="Muli Bold"/>
                          </a:rPr>
                          <m:t>)</m:t>
                        </m:r>
                      </m:e>
                    </m:nary>
                  </m:oMath>
                </a14:m>
                <a:endParaRPr lang="en-US" sz="2499" b="1">
                  <a:solidFill>
                    <a:srgbClr val="17415F"/>
                  </a:solidFill>
                  <a:latin typeface="Muli Bold"/>
                  <a:ea typeface="Muli Bold"/>
                  <a:cs typeface="Muli Bold"/>
                  <a:sym typeface="Muli Bold"/>
                </a:endParaRPr>
              </a:p>
              <a:p>
                <a:pPr algn="l">
                  <a:lnSpc>
                    <a:spcPts val="3499"/>
                  </a:lnSpc>
                </a:pPr>
                <a:endParaRPr lang="en-US" sz="2499" b="1">
                  <a:solidFill>
                    <a:srgbClr val="17415F"/>
                  </a:solidFill>
                  <a:latin typeface="Muli Bold"/>
                  <a:ea typeface="Muli Bold"/>
                  <a:cs typeface="Muli Bold"/>
                  <a:sym typeface="Muli Bold"/>
                </a:endParaRPr>
              </a:p>
              <a:p>
                <a:pPr algn="l">
                  <a:lnSpc>
                    <a:spcPts val="3499"/>
                  </a:lnSpc>
                  <a:spcBef>
                    <a:spcPct val="0"/>
                  </a:spcBef>
                </a:pPr>
                <a:endParaRPr lang="en-US" sz="2499" b="1">
                  <a:solidFill>
                    <a:srgbClr val="17415F"/>
                  </a:solidFill>
                  <a:latin typeface="Muli Bold"/>
                  <a:ea typeface="Muli Bold"/>
                  <a:cs typeface="Muli Bold"/>
                  <a:sym typeface="Muli Bold"/>
                </a:endParaRPr>
              </a:p>
            </p:txBody>
          </p:sp>
        </mc:Choice>
        <mc:Fallback>
          <p:sp>
            <p:nvSpPr>
              <p:cNvPr id="18" name="TextBox 18"/>
              <p:cNvSpPr txBox="1">
                <a:spLocks noRot="1" noChangeAspect="1" noMove="1" noResize="1" noEditPoints="1" noAdjustHandles="1" noChangeArrowheads="1" noChangeShapeType="1" noTextEdit="1"/>
              </p:cNvSpPr>
              <p:nvPr/>
            </p:nvSpPr>
            <p:spPr>
              <a:xfrm>
                <a:off x="1028700" y="3149127"/>
                <a:ext cx="14266006" cy="4452822"/>
              </a:xfrm>
              <a:prstGeom prst="rect">
                <a:avLst/>
              </a:prstGeom>
              <a:blipFill>
                <a:blip r:embed="rId4"/>
                <a:stretch>
                  <a:fillRect l="-1368" t="-1507" r="-1667"/>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17415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635887" y="6471428"/>
            <a:ext cx="1975541" cy="3186356"/>
          </a:xfrm>
          <a:custGeom>
            <a:avLst/>
            <a:gdLst/>
            <a:ahLst/>
            <a:cxnLst/>
            <a:rect l="l" t="t" r="r" b="b"/>
            <a:pathLst>
              <a:path w="1975541" h="3186356">
                <a:moveTo>
                  <a:pt x="0" y="0"/>
                </a:moveTo>
                <a:lnTo>
                  <a:pt x="1975540" y="0"/>
                </a:lnTo>
                <a:lnTo>
                  <a:pt x="1975540"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028700" y="613449"/>
            <a:ext cx="10617228" cy="2472651"/>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Cơ sở lí thuyết</a:t>
            </a:r>
          </a:p>
          <a:p>
            <a:pPr marL="1727905" lvl="1" indent="-863953" algn="l">
              <a:lnSpc>
                <a:spcPts val="8083"/>
              </a:lnSpc>
              <a:buAutoNum type="arabicPeriod"/>
            </a:pPr>
            <a:r>
              <a:rPr lang="en-US" sz="8003" b="1">
                <a:solidFill>
                  <a:srgbClr val="17415F"/>
                </a:solidFill>
                <a:latin typeface="Karnchang SemiCondensed Bold"/>
                <a:ea typeface="Karnchang SemiCondensed Bold"/>
                <a:cs typeface="Karnchang SemiCondensed Bold"/>
                <a:sym typeface="Karnchang SemiCondensed Bold"/>
              </a:rPr>
              <a:t>Một số định nghĩa</a:t>
            </a:r>
          </a:p>
        </p:txBody>
      </p:sp>
      <mc:AlternateContent xmlns:mc="http://schemas.openxmlformats.org/markup-compatibility/2006">
        <mc:Choice xmlns:a14="http://schemas.microsoft.com/office/drawing/2010/main" Requires="a14">
          <p:sp>
            <p:nvSpPr>
              <p:cNvPr id="18" name="TextBox 18"/>
              <p:cNvSpPr txBox="1"/>
              <p:nvPr/>
            </p:nvSpPr>
            <p:spPr>
              <a:xfrm>
                <a:off x="1028700" y="3149127"/>
                <a:ext cx="14266006" cy="4452822"/>
              </a:xfrm>
              <a:prstGeom prst="rect">
                <a:avLst/>
              </a:prstGeom>
            </p:spPr>
            <p:txBody>
              <a:bodyPr lIns="0" tIns="0" rIns="0" bIns="0" rtlCol="0" anchor="t">
                <a:spAutoFit/>
              </a:bodyPr>
              <a:lstStyle/>
              <a:p>
                <a:pPr algn="l">
                  <a:lnSpc>
                    <a:spcPts val="3499"/>
                  </a:lnSpc>
                </a:pPr>
                <a:r>
                  <a:rPr lang="en-US" sz="2499" b="1">
                    <a:solidFill>
                      <a:srgbClr val="17415F"/>
                    </a:solidFill>
                    <a:latin typeface="Muli Bold"/>
                    <a:ea typeface="Muli Bold"/>
                    <a:cs typeface="Muli Bold"/>
                    <a:sym typeface="Muli Bold"/>
                  </a:rPr>
                  <a:t>Định nghĩa 3: Độ hữu ích của một tập mục tổng quát trong giao dịch</a:t>
                </a:r>
              </a:p>
              <a:p>
                <a:pPr algn="l">
                  <a:lnSpc>
                    <a:spcPts val="3499"/>
                  </a:lnSpc>
                </a:pPr>
                <a:r>
                  <a:rPr lang="en-US" sz="2499">
                    <a:solidFill>
                      <a:srgbClr val="17415F"/>
                    </a:solidFill>
                    <a:latin typeface="Muli"/>
                    <a:ea typeface="Muli"/>
                    <a:cs typeface="Muli"/>
                    <a:sym typeface="Muli"/>
                  </a:rPr>
                  <a:t>Giả sử: GI là một tập mục tổng quát hóa, D là một tập dữ liệu giao dịch, và T là một phân loại học.</a:t>
                </a:r>
              </a:p>
              <a:p>
                <a:pPr algn="l">
                  <a:lnSpc>
                    <a:spcPts val="3499"/>
                  </a:lnSpc>
                </a:pPr>
                <a:r>
                  <a:rPr lang="en-US" sz="2499">
                    <a:solidFill>
                      <a:srgbClr val="17415F"/>
                    </a:solidFill>
                    <a:latin typeface="Muli"/>
                    <a:ea typeface="Muli"/>
                    <a:cs typeface="Muli"/>
                    <a:sym typeface="Muli"/>
                  </a:rPr>
                  <a:t>(1) Độ hữu ích của một tập mục tổng quát hóa GI trong giao dịch tj ∈ D, kí hiệu là u(GI,tj ), được xác định bằng tổng giá trị của tất cả các mục tổng quát thuộc tập đó.</a:t>
                </a:r>
              </a:p>
              <a:p>
                <a:pPr algn="ctr">
                  <a:lnSpc>
                    <a:spcPts val="3499"/>
                  </a:lnSpc>
                </a:pPr>
                <a:r>
                  <a:rPr lang="en-US" sz="2499" b="1">
                    <a:solidFill>
                      <a:srgbClr val="17415F"/>
                    </a:solidFill>
                    <a:latin typeface="Muli Bold"/>
                    <a:ea typeface="Muli Bold"/>
                    <a:cs typeface="Muli Bold"/>
                    <a:sym typeface="Muli Bold"/>
                  </a:rPr>
                  <a:t>u(GI, tj ) = </a:t>
                </a:r>
                <a14:m>
                  <m:oMath xmlns:m="http://schemas.openxmlformats.org/officeDocument/2006/math">
                    <m:nary>
                      <m:naryPr>
                        <m:chr m:val="∑"/>
                        <m:supHide m:val="on"/>
                        <m:ctrlPr>
                          <a:rPr lang="en-US" sz="2499" b="1" i="1" smtClean="0">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g</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GI</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g</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 )</m:t>
                        </m:r>
                      </m:e>
                    </m:nary>
                  </m:oMath>
                </a14:m>
                <a:endParaRPr lang="en-US" sz="2499" b="1">
                  <a:solidFill>
                    <a:srgbClr val="17415F"/>
                  </a:solidFill>
                  <a:latin typeface="Muli Bold"/>
                  <a:ea typeface="Muli Bold"/>
                  <a:cs typeface="Muli Bold"/>
                  <a:sym typeface="Muli Bold"/>
                </a:endParaRPr>
              </a:p>
              <a:p>
                <a:pPr algn="l">
                  <a:lnSpc>
                    <a:spcPts val="3499"/>
                  </a:lnSpc>
                </a:pPr>
                <a:r>
                  <a:rPr lang="en-US" sz="2499">
                    <a:solidFill>
                      <a:srgbClr val="17415F"/>
                    </a:solidFill>
                    <a:latin typeface="Muli"/>
                    <a:ea typeface="Muli"/>
                    <a:cs typeface="Muli"/>
                    <a:sym typeface="Muli"/>
                  </a:rPr>
                  <a:t>(2) Độ hữu ích một tập mục tổng quát hóa GI trong tập dữ liệu giao dịch D, kí hiệu là u(GI,D), được xác định bằng tổng giá trị của tập mục đó trong tất cả các giao dịch: </a:t>
                </a:r>
              </a:p>
              <a:p>
                <a:pPr algn="ctr">
                  <a:lnSpc>
                    <a:spcPts val="3499"/>
                  </a:lnSpc>
                </a:pPr>
                <a:r>
                  <a:rPr lang="en-US" sz="2499" b="1">
                    <a:solidFill>
                      <a:srgbClr val="17415F"/>
                    </a:solidFill>
                    <a:latin typeface="Muli Bold"/>
                    <a:ea typeface="Muli Bold"/>
                    <a:cs typeface="Muli Bold"/>
                    <a:sym typeface="Muli Bold"/>
                  </a:rPr>
                  <a:t>u(GI, D) =</a:t>
                </a:r>
                <a14:m>
                  <m:oMath xmlns:m="http://schemas.openxmlformats.org/officeDocument/2006/math">
                    <m:nary>
                      <m:naryPr>
                        <m:chr m:val="∑"/>
                        <m:supHide m:val="on"/>
                        <m:ctrlPr>
                          <a:rPr lang="en-US" sz="2499" b="1" i="1">
                            <a:solidFill>
                              <a:srgbClr val="17415F"/>
                            </a:solidFill>
                            <a:latin typeface="Cambria Math" panose="02040503050406030204" pitchFamily="18" charset="0"/>
                            <a:sym typeface="Muli Bold"/>
                          </a:rPr>
                        </m:ctrlPr>
                      </m:naryPr>
                      <m:sub>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D</m:t>
                        </m:r>
                      </m:sub>
                      <m:sup/>
                      <m:e>
                        <m:r>
                          <m:rPr>
                            <m:nor/>
                          </m:rPr>
                          <a:rPr lang="en-US" sz="2499" b="1">
                            <a:solidFill>
                              <a:srgbClr val="17415F"/>
                            </a:solidFill>
                            <a:latin typeface="Muli Bold"/>
                            <a:ea typeface="Muli Bold"/>
                            <a:cs typeface="Muli Bold"/>
                            <a:sym typeface="Muli Bold"/>
                          </a:rPr>
                          <m:t>u</m:t>
                        </m:r>
                        <m:r>
                          <m:rPr>
                            <m:nor/>
                          </m:rPr>
                          <a:rPr lang="en-US" sz="2499" b="1">
                            <a:solidFill>
                              <a:srgbClr val="17415F"/>
                            </a:solidFill>
                            <a:latin typeface="Muli Bold"/>
                            <a:ea typeface="Muli Bold"/>
                            <a:cs typeface="Muli Bold"/>
                            <a:sym typeface="Muli Bold"/>
                          </a:rPr>
                          <m:t>(</m:t>
                        </m:r>
                        <m:r>
                          <m:rPr>
                            <m:nor/>
                          </m:rPr>
                          <a:rPr lang="en-US" sz="2499" b="1">
                            <a:solidFill>
                              <a:srgbClr val="17415F"/>
                            </a:solidFill>
                            <a:latin typeface="Muli Bold"/>
                            <a:ea typeface="Muli Bold"/>
                            <a:cs typeface="Muli Bold"/>
                            <a:sym typeface="Muli Bold"/>
                          </a:rPr>
                          <m:t>GI</m:t>
                        </m:r>
                        <m:r>
                          <m:rPr>
                            <m:nor/>
                          </m:rPr>
                          <a:rPr lang="en-US" sz="2499" b="1">
                            <a:solidFill>
                              <a:srgbClr val="17415F"/>
                            </a:solidFill>
                            <a:latin typeface="Muli Bold"/>
                            <a:ea typeface="Muli Bold"/>
                            <a:cs typeface="Muli Bold"/>
                            <a:sym typeface="Muli Bold"/>
                          </a:rPr>
                          <m:t>, </m:t>
                        </m:r>
                        <m:r>
                          <m:rPr>
                            <m:nor/>
                          </m:rPr>
                          <a:rPr lang="en-US" sz="2499" b="1">
                            <a:solidFill>
                              <a:srgbClr val="17415F"/>
                            </a:solidFill>
                            <a:latin typeface="Muli Bold"/>
                            <a:ea typeface="Muli Bold"/>
                            <a:cs typeface="Muli Bold"/>
                            <a:sym typeface="Muli Bold"/>
                          </a:rPr>
                          <m:t>tj</m:t>
                        </m:r>
                        <m:r>
                          <m:rPr>
                            <m:nor/>
                          </m:rPr>
                          <a:rPr lang="en-US" sz="2499" b="1">
                            <a:solidFill>
                              <a:srgbClr val="17415F"/>
                            </a:solidFill>
                            <a:latin typeface="Muli Bold"/>
                            <a:ea typeface="Muli Bold"/>
                            <a:cs typeface="Muli Bold"/>
                            <a:sym typeface="Muli Bold"/>
                          </a:rPr>
                          <m:t> )</m:t>
                        </m:r>
                      </m:e>
                    </m:nary>
                  </m:oMath>
                </a14:m>
                <a:endParaRPr lang="en-US" sz="2499" b="1">
                  <a:solidFill>
                    <a:srgbClr val="17415F"/>
                  </a:solidFill>
                  <a:latin typeface="Muli Bold"/>
                  <a:ea typeface="Muli Bold"/>
                  <a:cs typeface="Muli Bold"/>
                  <a:sym typeface="Muli Bold"/>
                </a:endParaRPr>
              </a:p>
              <a:p>
                <a:pPr algn="l">
                  <a:lnSpc>
                    <a:spcPts val="3499"/>
                  </a:lnSpc>
                </a:pPr>
                <a:endParaRPr lang="en-US" sz="2499" b="1">
                  <a:solidFill>
                    <a:srgbClr val="17415F"/>
                  </a:solidFill>
                  <a:latin typeface="Muli Bold"/>
                  <a:ea typeface="Muli Bold"/>
                  <a:cs typeface="Muli Bold"/>
                  <a:sym typeface="Muli Bold"/>
                </a:endParaRPr>
              </a:p>
              <a:p>
                <a:pPr algn="l">
                  <a:lnSpc>
                    <a:spcPts val="3499"/>
                  </a:lnSpc>
                  <a:spcBef>
                    <a:spcPct val="0"/>
                  </a:spcBef>
                </a:pPr>
                <a:endParaRPr lang="en-US" sz="2499" b="1">
                  <a:solidFill>
                    <a:srgbClr val="17415F"/>
                  </a:solidFill>
                  <a:latin typeface="Muli Bold"/>
                  <a:ea typeface="Muli Bold"/>
                  <a:cs typeface="Muli Bold"/>
                  <a:sym typeface="Muli Bold"/>
                </a:endParaRPr>
              </a:p>
            </p:txBody>
          </p:sp>
        </mc:Choice>
        <mc:Fallback>
          <p:sp>
            <p:nvSpPr>
              <p:cNvPr id="18" name="TextBox 18"/>
              <p:cNvSpPr txBox="1">
                <a:spLocks noRot="1" noChangeAspect="1" noMove="1" noResize="1" noEditPoints="1" noAdjustHandles="1" noChangeArrowheads="1" noChangeShapeType="1" noTextEdit="1"/>
              </p:cNvSpPr>
              <p:nvPr/>
            </p:nvSpPr>
            <p:spPr>
              <a:xfrm>
                <a:off x="1028700" y="3149127"/>
                <a:ext cx="14266006" cy="4452822"/>
              </a:xfrm>
              <a:prstGeom prst="rect">
                <a:avLst/>
              </a:prstGeom>
              <a:blipFill>
                <a:blip r:embed="rId4"/>
                <a:stretch>
                  <a:fillRect l="-1368" t="-1507" r="-1068"/>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17415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9FCDF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635887" y="6471428"/>
            <a:ext cx="1975541" cy="3186356"/>
          </a:xfrm>
          <a:custGeom>
            <a:avLst/>
            <a:gdLst/>
            <a:ahLst/>
            <a:cxnLst/>
            <a:rect l="l" t="t" r="r" b="b"/>
            <a:pathLst>
              <a:path w="1975541" h="3186356">
                <a:moveTo>
                  <a:pt x="0" y="0"/>
                </a:moveTo>
                <a:lnTo>
                  <a:pt x="1975540" y="0"/>
                </a:lnTo>
                <a:lnTo>
                  <a:pt x="1975540"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028700" y="952500"/>
            <a:ext cx="10617228" cy="2472651"/>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Cơ sở lí thuyết</a:t>
            </a:r>
          </a:p>
          <a:p>
            <a:pPr marL="1727905" lvl="1" indent="-863953" algn="l">
              <a:lnSpc>
                <a:spcPts val="8083"/>
              </a:lnSpc>
              <a:buAutoNum type="arabicPeriod"/>
            </a:pPr>
            <a:r>
              <a:rPr lang="en-US" sz="8003" b="1">
                <a:solidFill>
                  <a:srgbClr val="17415F"/>
                </a:solidFill>
                <a:latin typeface="Karnchang SemiCondensed Bold"/>
                <a:ea typeface="Karnchang SemiCondensed Bold"/>
                <a:cs typeface="Karnchang SemiCondensed Bold"/>
                <a:sym typeface="Karnchang SemiCondensed Bold"/>
              </a:rPr>
              <a:t>Một số định nghĩa</a:t>
            </a:r>
          </a:p>
        </p:txBody>
      </p:sp>
      <p:sp>
        <p:nvSpPr>
          <p:cNvPr id="18" name="TextBox 18"/>
          <p:cNvSpPr txBox="1"/>
          <p:nvPr/>
        </p:nvSpPr>
        <p:spPr>
          <a:xfrm>
            <a:off x="1028700" y="3320530"/>
            <a:ext cx="14266006" cy="4901663"/>
          </a:xfrm>
          <a:prstGeom prst="rect">
            <a:avLst/>
          </a:prstGeom>
        </p:spPr>
        <p:txBody>
          <a:bodyPr lIns="0" tIns="0" rIns="0" bIns="0" rtlCol="0" anchor="t">
            <a:spAutoFit/>
          </a:bodyPr>
          <a:lstStyle/>
          <a:p>
            <a:pPr algn="l">
              <a:lnSpc>
                <a:spcPts val="3499"/>
              </a:lnSpc>
            </a:pPr>
            <a:r>
              <a:rPr lang="en-US" sz="2499" b="1">
                <a:solidFill>
                  <a:srgbClr val="17415F"/>
                </a:solidFill>
                <a:latin typeface="Muli Bold"/>
                <a:ea typeface="Muli Bold"/>
                <a:cs typeface="Muli Bold"/>
                <a:sym typeface="Muli Bold"/>
              </a:rPr>
              <a:t>Định nghĩa 3: Độ hữu ích của một tập mục tổng quát trong giao dịch</a:t>
            </a:r>
          </a:p>
          <a:p>
            <a:pPr algn="l">
              <a:lnSpc>
                <a:spcPts val="3499"/>
              </a:lnSpc>
            </a:pPr>
            <a:r>
              <a:rPr lang="en-US" sz="2499">
                <a:solidFill>
                  <a:srgbClr val="17415F"/>
                </a:solidFill>
                <a:latin typeface="Muli"/>
                <a:ea typeface="Muli"/>
                <a:cs typeface="Muli"/>
                <a:sym typeface="Muli"/>
              </a:rPr>
              <a:t>Giả sử: GI là một tập mục tổng quát hóa, D là một tập dữ liệu giao dịch, và T là một phân loại học.</a:t>
            </a:r>
          </a:p>
          <a:p>
            <a:pPr algn="l">
              <a:lnSpc>
                <a:spcPts val="3499"/>
              </a:lnSpc>
            </a:pPr>
            <a:r>
              <a:rPr lang="en-US" sz="2499">
                <a:solidFill>
                  <a:srgbClr val="17415F"/>
                </a:solidFill>
                <a:latin typeface="Muli"/>
                <a:ea typeface="Muli"/>
                <a:cs typeface="Muli"/>
                <a:sym typeface="Muli"/>
              </a:rPr>
              <a:t>(3) Điều kiện để trở thành tập mục Hữu ích cao tổng quát GHUI (Generalized High-Utility Itemset)</a:t>
            </a:r>
          </a:p>
          <a:p>
            <a:pPr algn="ctr">
              <a:lnSpc>
                <a:spcPts val="3499"/>
              </a:lnSpc>
            </a:pPr>
            <a:r>
              <a:rPr lang="en-US" sz="2499" b="1">
                <a:solidFill>
                  <a:srgbClr val="17415F"/>
                </a:solidFill>
                <a:latin typeface="Muli Bold"/>
                <a:ea typeface="Muli Bold"/>
                <a:cs typeface="Muli Bold"/>
                <a:sym typeface="Muli Bold"/>
              </a:rPr>
              <a:t>u(GI, D) &gt; minutil</a:t>
            </a:r>
          </a:p>
          <a:p>
            <a:pPr algn="l">
              <a:lnSpc>
                <a:spcPts val="3499"/>
              </a:lnSpc>
            </a:pPr>
            <a:r>
              <a:rPr lang="en-US" sz="2499">
                <a:solidFill>
                  <a:srgbClr val="17415F"/>
                </a:solidFill>
                <a:latin typeface="Muli"/>
                <a:ea typeface="Muli"/>
                <a:cs typeface="Muli"/>
                <a:sym typeface="Muli"/>
              </a:rPr>
              <a:t>(4) Ngưỡng độ hữu ích theo cấp độ (Per-level utility thresholds): đặt các ngưỡng độ hữu ích cao hơn cho các tập mục bao gồm các mục ở các mức độ trừu tượng cao hơn</a:t>
            </a:r>
          </a:p>
          <a:p>
            <a:pPr algn="ctr">
              <a:lnSpc>
                <a:spcPts val="3499"/>
              </a:lnSpc>
            </a:pPr>
            <a:r>
              <a:rPr lang="en-US" sz="2499" b="1" i="1">
                <a:solidFill>
                  <a:srgbClr val="17415F"/>
                </a:solidFill>
                <a:latin typeface="Muli Bold Italics"/>
                <a:ea typeface="Muli Bold Italics"/>
                <a:cs typeface="Muli Bold Italics"/>
                <a:sym typeface="Muli Bold Italics"/>
              </a:rPr>
              <a:t>thr(l) </a:t>
            </a:r>
            <a:r>
              <a:rPr lang="en-US" sz="2499" b="1">
                <a:solidFill>
                  <a:srgbClr val="17415F"/>
                </a:solidFill>
                <a:latin typeface="Muli Bold"/>
                <a:ea typeface="Muli Bold"/>
                <a:cs typeface="Muli Bold"/>
                <a:sym typeface="Muli Bold"/>
              </a:rPr>
              <a:t>= α(l) </a:t>
            </a:r>
            <a:r>
              <a:rPr lang="en-US" sz="2499" b="1" i="1">
                <a:solidFill>
                  <a:srgbClr val="17415F"/>
                </a:solidFill>
                <a:latin typeface="Muli Bold Italics"/>
                <a:ea typeface="Muli Bold Italics"/>
                <a:cs typeface="Muli Bold Italics"/>
                <a:sym typeface="Muli Bold Italics"/>
              </a:rPr>
              <a:t>· minutil</a:t>
            </a:r>
          </a:p>
          <a:p>
            <a:pPr marL="539749" lvl="1" indent="-269875" algn="l">
              <a:lnSpc>
                <a:spcPts val="3499"/>
              </a:lnSpc>
              <a:buFont typeface="Arial"/>
              <a:buChar char="•"/>
            </a:pPr>
            <a:r>
              <a:rPr lang="en-US" sz="2499" i="1">
                <a:solidFill>
                  <a:srgbClr val="17415F"/>
                </a:solidFill>
                <a:latin typeface="Muli Italics"/>
                <a:ea typeface="Muli Italics"/>
                <a:cs typeface="Muli Italics"/>
                <a:sym typeface="Muli Italics"/>
              </a:rPr>
              <a:t> α(l): N → [1, +∞)là một hàm tăng đơn điệu (do người dùng chỉ định). </a:t>
            </a:r>
          </a:p>
          <a:p>
            <a:pPr algn="l">
              <a:lnSpc>
                <a:spcPts val="3499"/>
              </a:lnSpc>
            </a:pPr>
            <a:endParaRPr lang="en-US" sz="2499" i="1">
              <a:solidFill>
                <a:srgbClr val="17415F"/>
              </a:solidFill>
              <a:latin typeface="Muli Italics"/>
              <a:ea typeface="Muli Italics"/>
              <a:cs typeface="Muli Italics"/>
              <a:sym typeface="Muli Italics"/>
            </a:endParaRPr>
          </a:p>
          <a:p>
            <a:pPr algn="l">
              <a:lnSpc>
                <a:spcPts val="3499"/>
              </a:lnSpc>
            </a:pPr>
            <a:endParaRPr lang="en-US" sz="2499" i="1">
              <a:solidFill>
                <a:srgbClr val="17415F"/>
              </a:solidFill>
              <a:latin typeface="Muli Italics"/>
              <a:ea typeface="Muli Italics"/>
              <a:cs typeface="Muli Italics"/>
              <a:sym typeface="Muli Italics"/>
            </a:endParaRPr>
          </a:p>
          <a:p>
            <a:pPr algn="l">
              <a:lnSpc>
                <a:spcPts val="3499"/>
              </a:lnSpc>
              <a:spcBef>
                <a:spcPct val="0"/>
              </a:spcBef>
            </a:pPr>
            <a:endParaRPr lang="en-US" sz="2499" i="1">
              <a:solidFill>
                <a:srgbClr val="17415F"/>
              </a:solidFill>
              <a:latin typeface="Muli Italics"/>
              <a:ea typeface="Muli Italics"/>
              <a:cs typeface="Muli Italics"/>
              <a:sym typeface="Muli Itali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FFFFF"/>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9FCD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804075" y="6548760"/>
            <a:ext cx="2807352" cy="3088087"/>
          </a:xfrm>
          <a:custGeom>
            <a:avLst/>
            <a:gdLst/>
            <a:ahLst/>
            <a:cxnLst/>
            <a:rect l="l" t="t" r="r" b="b"/>
            <a:pathLst>
              <a:path w="2807352" h="3088087">
                <a:moveTo>
                  <a:pt x="0" y="0"/>
                </a:moveTo>
                <a:lnTo>
                  <a:pt x="2807352" y="0"/>
                </a:lnTo>
                <a:lnTo>
                  <a:pt x="2807352" y="3088087"/>
                </a:lnTo>
                <a:lnTo>
                  <a:pt x="0" y="30880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565436" y="850989"/>
            <a:ext cx="12762654" cy="1447185"/>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Mô tả thuật toán</a:t>
            </a:r>
          </a:p>
        </p:txBody>
      </p:sp>
      <p:sp>
        <p:nvSpPr>
          <p:cNvPr id="18" name="TextBox 18"/>
          <p:cNvSpPr txBox="1"/>
          <p:nvPr/>
        </p:nvSpPr>
        <p:spPr>
          <a:xfrm>
            <a:off x="1565436" y="2429964"/>
            <a:ext cx="13238639" cy="6071855"/>
          </a:xfrm>
          <a:prstGeom prst="rect">
            <a:avLst/>
          </a:prstGeom>
        </p:spPr>
        <p:txBody>
          <a:bodyPr wrap="square" lIns="0" tIns="0" rIns="0" bIns="0" rtlCol="0" anchor="t">
            <a:spAutoFit/>
          </a:bodyPr>
          <a:lstStyle/>
          <a:p>
            <a:pPr algn="l">
              <a:lnSpc>
                <a:spcPts val="3359"/>
              </a:lnSpc>
              <a:spcBef>
                <a:spcPct val="0"/>
              </a:spcBef>
            </a:pPr>
            <a:r>
              <a:rPr lang="en-US" sz="2500">
                <a:solidFill>
                  <a:srgbClr val="17415F"/>
                </a:solidFill>
                <a:latin typeface="Muli"/>
                <a:ea typeface="Muli"/>
                <a:cs typeface="Muli"/>
                <a:sym typeface="Muli"/>
              </a:rPr>
              <a:t>Để trích xuất các Tập mục Hữu ích Cao tổng quát hóa (Generalized High-Utility Itemsets), sử dụng thuật toán: Multiple-Level High-Utility Itemset Miner (ML-HUI Miner).</a:t>
            </a:r>
          </a:p>
          <a:p>
            <a:pPr algn="l">
              <a:lnSpc>
                <a:spcPts val="3359"/>
              </a:lnSpc>
              <a:spcBef>
                <a:spcPct val="0"/>
              </a:spcBef>
            </a:pPr>
            <a:r>
              <a:rPr lang="en-US" sz="2500">
                <a:solidFill>
                  <a:srgbClr val="17415F"/>
                </a:solidFill>
                <a:latin typeface="Muli"/>
                <a:ea typeface="Muli"/>
                <a:cs typeface="Muli"/>
                <a:sym typeface="Muli"/>
              </a:rPr>
              <a:t>Các đặc điểm chính của GHUI-Miner: </a:t>
            </a:r>
          </a:p>
          <a:p>
            <a:pPr marL="518160" lvl="1" indent="-259080" algn="l">
              <a:lnSpc>
                <a:spcPts val="3359"/>
              </a:lnSpc>
              <a:spcBef>
                <a:spcPct val="0"/>
              </a:spcBef>
              <a:buAutoNum type="arabicPeriod"/>
            </a:pPr>
            <a:r>
              <a:rPr lang="en-US" sz="2500">
                <a:solidFill>
                  <a:srgbClr val="17415F"/>
                </a:solidFill>
                <a:latin typeface="Muli"/>
                <a:ea typeface="Muli"/>
                <a:cs typeface="Muli"/>
                <a:sym typeface="Muli"/>
              </a:rPr>
              <a:t>Khai phá HUI hướng phân loại (Taxonomy-driven HUI mining): ML-HUI Miner hỗ trợ dữ liệu giao dịch được làm giàu với thông tin phân loại học. Điều này cho phép chúng  trích xuất các mẫu ở các mức độ trừu tượng khác nhau.</a:t>
            </a:r>
          </a:p>
          <a:p>
            <a:pPr marL="518160" lvl="1" indent="-259080" algn="l">
              <a:lnSpc>
                <a:spcPts val="3359"/>
              </a:lnSpc>
              <a:spcBef>
                <a:spcPct val="0"/>
              </a:spcBef>
              <a:buAutoNum type="arabicPeriod"/>
            </a:pPr>
            <a:r>
              <a:rPr lang="en-US" sz="2500">
                <a:solidFill>
                  <a:srgbClr val="17415F"/>
                </a:solidFill>
                <a:latin typeface="Muli"/>
                <a:ea typeface="Muli"/>
                <a:cs typeface="Muli"/>
                <a:sym typeface="Muli"/>
              </a:rPr>
              <a:t>Trích xuất đơn bước các HUI tổng quát và không tổng quát: Thuật toán được đề xuất khám phá bộ dữ liệu và phân loại học để tạo ra các mẫu đa cấp độ trong một pha duy nhất (tức là, không cần chạy nhiều lần).</a:t>
            </a:r>
          </a:p>
          <a:p>
            <a:pPr marL="518160" lvl="1" indent="-259080" algn="l">
              <a:lnSpc>
                <a:spcPts val="3359"/>
              </a:lnSpc>
              <a:spcBef>
                <a:spcPct val="0"/>
              </a:spcBef>
              <a:buAutoNum type="arabicPeriod"/>
            </a:pPr>
            <a:r>
              <a:rPr lang="en-US" sz="2500">
                <a:solidFill>
                  <a:srgbClr val="17415F"/>
                </a:solidFill>
                <a:latin typeface="Muli"/>
                <a:ea typeface="Muli"/>
                <a:cs typeface="Muli"/>
                <a:sym typeface="Muli"/>
              </a:rPr>
              <a:t> Ngăn chặn việc tạo ra các tổ hợp mục với các cấp độ khác nhau trong phân loại học: tập trung vào việc trích xuất các mục chỉ bao gồm các mục có cùng cấp độ. Do đó GHUI-Miner ngăn chặn việc tạo ra các tập mục với các cấp độ khác nhau trong phân loại học.</a:t>
            </a:r>
          </a:p>
          <a:p>
            <a:pPr algn="l">
              <a:lnSpc>
                <a:spcPts val="3359"/>
              </a:lnSpc>
              <a:spcBef>
                <a:spcPct val="0"/>
              </a:spcBef>
            </a:pPr>
            <a:endParaRPr lang="en-US" sz="2500">
              <a:solidFill>
                <a:srgbClr val="17415F"/>
              </a:solidFill>
              <a:latin typeface="Muli"/>
              <a:ea typeface="Muli"/>
              <a:cs typeface="Muli"/>
              <a:sym typeface="Mul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FFFFF"/>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9FCD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3834100" y="6666572"/>
            <a:ext cx="2807352" cy="3088087"/>
          </a:xfrm>
          <a:custGeom>
            <a:avLst/>
            <a:gdLst/>
            <a:ahLst/>
            <a:cxnLst/>
            <a:rect l="l" t="t" r="r" b="b"/>
            <a:pathLst>
              <a:path w="2807352" h="3088087">
                <a:moveTo>
                  <a:pt x="0" y="0"/>
                </a:moveTo>
                <a:lnTo>
                  <a:pt x="2807352" y="0"/>
                </a:lnTo>
                <a:lnTo>
                  <a:pt x="2807352" y="3088087"/>
                </a:lnTo>
                <a:lnTo>
                  <a:pt x="0" y="30880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1565436" y="2756109"/>
            <a:ext cx="12268664" cy="5183510"/>
          </a:xfrm>
          <a:custGeom>
            <a:avLst/>
            <a:gdLst/>
            <a:ahLst/>
            <a:cxnLst/>
            <a:rect l="l" t="t" r="r" b="b"/>
            <a:pathLst>
              <a:path w="12268664" h="5183510">
                <a:moveTo>
                  <a:pt x="0" y="0"/>
                </a:moveTo>
                <a:lnTo>
                  <a:pt x="12268664" y="0"/>
                </a:lnTo>
                <a:lnTo>
                  <a:pt x="12268664" y="5183511"/>
                </a:lnTo>
                <a:lnTo>
                  <a:pt x="0" y="5183511"/>
                </a:lnTo>
                <a:lnTo>
                  <a:pt x="0" y="0"/>
                </a:lnTo>
                <a:close/>
              </a:path>
            </a:pathLst>
          </a:custGeom>
          <a:blipFill>
            <a:blip r:embed="rId4"/>
            <a:stretch>
              <a:fillRect/>
            </a:stretch>
          </a:blipFill>
        </p:spPr>
      </p:sp>
      <p:sp>
        <p:nvSpPr>
          <p:cNvPr id="18" name="TextBox 18"/>
          <p:cNvSpPr txBox="1"/>
          <p:nvPr/>
        </p:nvSpPr>
        <p:spPr>
          <a:xfrm>
            <a:off x="1565436" y="953115"/>
            <a:ext cx="12762654" cy="1447185"/>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Mô tả thuật toán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FCDFF"/>
        </a:solidFill>
        <a:effectLst/>
      </p:bgPr>
    </p:bg>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915866" y="-251526"/>
            <a:ext cx="1764194" cy="4014219"/>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915866" y="-1975557"/>
            <a:ext cx="1764194" cy="3883035"/>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611427" y="-251526"/>
            <a:ext cx="1764194" cy="4014219"/>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FFFF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611427" y="-1975557"/>
            <a:ext cx="1764194" cy="3883035"/>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273189" y="6563934"/>
            <a:ext cx="1862901" cy="3004680"/>
          </a:xfrm>
          <a:custGeom>
            <a:avLst/>
            <a:gdLst/>
            <a:ahLst/>
            <a:cxnLst/>
            <a:rect l="l" t="t" r="r" b="b"/>
            <a:pathLst>
              <a:path w="1862901" h="3004680">
                <a:moveTo>
                  <a:pt x="0" y="0"/>
                </a:moveTo>
                <a:lnTo>
                  <a:pt x="1862902" y="0"/>
                </a:lnTo>
                <a:lnTo>
                  <a:pt x="1862902" y="3004680"/>
                </a:lnTo>
                <a:lnTo>
                  <a:pt x="0" y="30046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565436" y="850989"/>
            <a:ext cx="8018324" cy="1447185"/>
          </a:xfrm>
          <a:prstGeom prst="rect">
            <a:avLst/>
          </a:prstGeom>
        </p:spPr>
        <p:txBody>
          <a:bodyPr lIns="0" tIns="0" rIns="0" bIns="0" rtlCol="0" anchor="t">
            <a:spAutoFit/>
          </a:bodyPr>
          <a:lstStyle/>
          <a:p>
            <a:pPr algn="l">
              <a:lnSpc>
                <a:spcPts val="8083"/>
              </a:lnSpc>
            </a:pPr>
            <a:r>
              <a:rPr lang="en-US" sz="8003" b="1">
                <a:solidFill>
                  <a:srgbClr val="17415F"/>
                </a:solidFill>
                <a:latin typeface="Karnchang SemiCondensed Bold"/>
                <a:ea typeface="Karnchang SemiCondensed Bold"/>
                <a:cs typeface="Karnchang SemiCondensed Bold"/>
                <a:sym typeface="Karnchang SemiCondensed Bold"/>
              </a:rPr>
              <a:t>Demo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65436" y="9239250"/>
            <a:ext cx="20019890" cy="0"/>
          </a:xfrm>
          <a:prstGeom prst="line">
            <a:avLst/>
          </a:prstGeom>
          <a:ln w="38100" cap="flat">
            <a:solidFill>
              <a:srgbClr val="17415F"/>
            </a:solidFill>
            <a:prstDash val="solid"/>
            <a:headEnd type="diamond" w="lg" len="lg"/>
            <a:tailEnd type="none" w="sm" len="sm"/>
          </a:ln>
        </p:spPr>
      </p:sp>
      <p:sp>
        <p:nvSpPr>
          <p:cNvPr id="3" name="AutoShape 3"/>
          <p:cNvSpPr/>
          <p:nvPr/>
        </p:nvSpPr>
        <p:spPr>
          <a:xfrm flipV="1">
            <a:off x="624662" y="-18432980"/>
            <a:ext cx="0" cy="20019890"/>
          </a:xfrm>
          <a:prstGeom prst="line">
            <a:avLst/>
          </a:prstGeom>
          <a:ln w="38100" cap="flat">
            <a:solidFill>
              <a:srgbClr val="17415F"/>
            </a:solidFill>
            <a:prstDash val="solid"/>
            <a:headEnd type="diamond" w="lg" len="lg"/>
            <a:tailEnd type="none" w="sm" len="sm"/>
          </a:ln>
        </p:spPr>
      </p:sp>
      <p:grpSp>
        <p:nvGrpSpPr>
          <p:cNvPr id="4" name="Group 4"/>
          <p:cNvGrpSpPr/>
          <p:nvPr/>
        </p:nvGrpSpPr>
        <p:grpSpPr>
          <a:xfrm>
            <a:off x="16042557" y="-380448"/>
            <a:ext cx="3086100" cy="7022063"/>
            <a:chOff x="0" y="0"/>
            <a:chExt cx="812800" cy="1849432"/>
          </a:xfrm>
        </p:grpSpPr>
        <p:sp>
          <p:nvSpPr>
            <p:cNvPr id="5" name="Freeform 5"/>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5284FF"/>
            </a:solidFill>
          </p:spPr>
        </p:sp>
        <p:sp>
          <p:nvSpPr>
            <p:cNvPr id="6" name="TextBox 6"/>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042557" y="-3396291"/>
            <a:ext cx="3086100" cy="6792583"/>
            <a:chOff x="0" y="0"/>
            <a:chExt cx="812800" cy="1788993"/>
          </a:xfrm>
        </p:grpSpPr>
        <p:sp>
          <p:nvSpPr>
            <p:cNvPr id="8" name="Freeform 8"/>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F0F7FE"/>
            </a:solidFill>
          </p:spPr>
        </p:sp>
        <p:sp>
          <p:nvSpPr>
            <p:cNvPr id="9" name="TextBox 9"/>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380448"/>
            <a:ext cx="3086100" cy="7022063"/>
            <a:chOff x="0" y="0"/>
            <a:chExt cx="812800" cy="1849432"/>
          </a:xfrm>
        </p:grpSpPr>
        <p:sp>
          <p:nvSpPr>
            <p:cNvPr id="11" name="Freeform 11"/>
            <p:cNvSpPr/>
            <p:nvPr/>
          </p:nvSpPr>
          <p:spPr>
            <a:xfrm>
              <a:off x="0" y="0"/>
              <a:ext cx="812800" cy="1849432"/>
            </a:xfrm>
            <a:custGeom>
              <a:avLst/>
              <a:gdLst/>
              <a:ahLst/>
              <a:cxnLst/>
              <a:rect l="l" t="t" r="r" b="b"/>
              <a:pathLst>
                <a:path w="812800" h="1849432">
                  <a:moveTo>
                    <a:pt x="0" y="0"/>
                  </a:moveTo>
                  <a:lnTo>
                    <a:pt x="812800" y="0"/>
                  </a:lnTo>
                  <a:lnTo>
                    <a:pt x="812800" y="1849432"/>
                  </a:lnTo>
                  <a:lnTo>
                    <a:pt x="0" y="1849432"/>
                  </a:lnTo>
                  <a:close/>
                </a:path>
              </a:pathLst>
            </a:custGeom>
            <a:solidFill>
              <a:srgbClr val="9FCDFF"/>
            </a:solidFill>
          </p:spPr>
        </p:sp>
        <p:sp>
          <p:nvSpPr>
            <p:cNvPr id="12" name="TextBox 12"/>
            <p:cNvSpPr txBox="1"/>
            <p:nvPr/>
          </p:nvSpPr>
          <p:spPr>
            <a:xfrm>
              <a:off x="0" y="-38100"/>
              <a:ext cx="812800" cy="188753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259300" y="-3396291"/>
            <a:ext cx="3086100" cy="6792583"/>
            <a:chOff x="0" y="0"/>
            <a:chExt cx="812800" cy="1788993"/>
          </a:xfrm>
        </p:grpSpPr>
        <p:sp>
          <p:nvSpPr>
            <p:cNvPr id="14" name="Freeform 14"/>
            <p:cNvSpPr/>
            <p:nvPr/>
          </p:nvSpPr>
          <p:spPr>
            <a:xfrm>
              <a:off x="0" y="0"/>
              <a:ext cx="812800" cy="1788993"/>
            </a:xfrm>
            <a:custGeom>
              <a:avLst/>
              <a:gdLst/>
              <a:ahLst/>
              <a:cxnLst/>
              <a:rect l="l" t="t" r="r" b="b"/>
              <a:pathLst>
                <a:path w="812800" h="1788993">
                  <a:moveTo>
                    <a:pt x="0" y="0"/>
                  </a:moveTo>
                  <a:lnTo>
                    <a:pt x="812800" y="0"/>
                  </a:lnTo>
                  <a:lnTo>
                    <a:pt x="812800" y="1788993"/>
                  </a:lnTo>
                  <a:lnTo>
                    <a:pt x="0" y="1788993"/>
                  </a:lnTo>
                  <a:close/>
                </a:path>
              </a:pathLst>
            </a:custGeom>
            <a:solidFill>
              <a:srgbClr val="17415F"/>
            </a:solidFill>
          </p:spPr>
        </p:sp>
        <p:sp>
          <p:nvSpPr>
            <p:cNvPr id="15" name="TextBox 15"/>
            <p:cNvSpPr txBox="1"/>
            <p:nvPr/>
          </p:nvSpPr>
          <p:spPr>
            <a:xfrm>
              <a:off x="0" y="-38100"/>
              <a:ext cx="812800" cy="18270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flipH="1">
            <a:off x="3064867" y="6405372"/>
            <a:ext cx="3771794" cy="4199366"/>
          </a:xfrm>
          <a:custGeom>
            <a:avLst/>
            <a:gdLst/>
            <a:ahLst/>
            <a:cxnLst/>
            <a:rect l="l" t="t" r="r" b="b"/>
            <a:pathLst>
              <a:path w="3771794" h="4199366">
                <a:moveTo>
                  <a:pt x="3771794" y="0"/>
                </a:moveTo>
                <a:lnTo>
                  <a:pt x="0" y="0"/>
                </a:lnTo>
                <a:lnTo>
                  <a:pt x="0" y="4199365"/>
                </a:lnTo>
                <a:lnTo>
                  <a:pt x="3771794" y="4199365"/>
                </a:lnTo>
                <a:lnTo>
                  <a:pt x="377179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1565436" y="1325159"/>
            <a:ext cx="10390539" cy="3780314"/>
          </a:xfrm>
          <a:prstGeom prst="rect">
            <a:avLst/>
          </a:prstGeom>
        </p:spPr>
        <p:txBody>
          <a:bodyPr lIns="0" tIns="0" rIns="0" bIns="0" rtlCol="0" anchor="t">
            <a:spAutoFit/>
          </a:bodyPr>
          <a:lstStyle/>
          <a:p>
            <a:pPr algn="l">
              <a:lnSpc>
                <a:spcPts val="12312"/>
              </a:lnSpc>
            </a:pPr>
            <a:r>
              <a:rPr lang="en-US" sz="12190" b="1">
                <a:solidFill>
                  <a:srgbClr val="17415F"/>
                </a:solidFill>
                <a:latin typeface="Karnchang SemiCondensed Bold"/>
                <a:ea typeface="Karnchang SemiCondensed Bold"/>
                <a:cs typeface="Karnchang SemiCondensed Bold"/>
                <a:sym typeface="Karnchang SemiCondensed Bold"/>
              </a:rPr>
              <a:t>Thank You</a:t>
            </a:r>
          </a:p>
          <a:p>
            <a:pPr algn="l">
              <a:lnSpc>
                <a:spcPts val="12312"/>
              </a:lnSpc>
            </a:pPr>
            <a:endParaRPr lang="en-US" sz="12190" b="1">
              <a:solidFill>
                <a:srgbClr val="17415F"/>
              </a:solidFill>
              <a:latin typeface="Karnchang SemiCondensed Bold"/>
              <a:ea typeface="Karnchang SemiCondensed Bold"/>
              <a:cs typeface="Karnchang SemiCondensed Bold"/>
              <a:sym typeface="Karnchang SemiCondensed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1673</Words>
  <Application>Microsoft Office PowerPoint</Application>
  <PresentationFormat>Custom</PresentationFormat>
  <Paragraphs>85</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Muli Italics</vt:lpstr>
      <vt:lpstr>Muli</vt:lpstr>
      <vt:lpstr>Karnchang SemiCondensed Bold</vt:lpstr>
      <vt:lpstr>Quark</vt:lpstr>
      <vt:lpstr>Times New Roman</vt:lpstr>
      <vt:lpstr>Calibri</vt:lpstr>
      <vt:lpstr>Muli Bold</vt:lpstr>
      <vt:lpstr>Arial</vt:lpstr>
      <vt:lpstr>Cambria Math</vt:lpstr>
      <vt:lpstr>Muli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Discovering High-Utility Itemsets at Multiple Abstraction Levels</dc:title>
  <cp:lastModifiedBy>Nguyễn Nga</cp:lastModifiedBy>
  <cp:revision>3</cp:revision>
  <dcterms:created xsi:type="dcterms:W3CDTF">2006-08-16T00:00:00Z</dcterms:created>
  <dcterms:modified xsi:type="dcterms:W3CDTF">2026-03-09T15:27:53Z</dcterms:modified>
  <dc:identifier>DAHDXUs0uOI</dc:identifier>
</cp:coreProperties>
</file>